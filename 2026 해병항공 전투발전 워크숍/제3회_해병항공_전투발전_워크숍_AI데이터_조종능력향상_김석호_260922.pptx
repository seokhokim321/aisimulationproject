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80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56D01-A080-4972-9C76-27006FAD1A0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642B3-F439-49AB-8E3F-5C0716CDE6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22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[00:40]
</a:t>
            </a:r>
            <a:r>
              <a:rPr lang="ko-KR" altLang="en-US"/>
              <a:t>안녕하십니까</a:t>
            </a:r>
            <a:r>
              <a:rPr lang="en-US" altLang="ko-KR"/>
              <a:t>. </a:t>
            </a:r>
            <a:r>
              <a:rPr lang="ko-KR" altLang="en-US"/>
              <a:t>오늘은 </a:t>
            </a:r>
            <a:r>
              <a:rPr lang="en-US" altLang="ko-KR"/>
              <a:t>AI </a:t>
            </a:r>
            <a:r>
              <a:rPr lang="ko-KR" altLang="en-US"/>
              <a:t>데이터를 활용해 조종능력을 향상시키는 방법을 말씀드리겠습니다</a:t>
            </a:r>
            <a:r>
              <a:rPr lang="en-US" altLang="ko-KR"/>
              <a:t>. </a:t>
            </a:r>
            <a:r>
              <a:rPr lang="ko-KR" altLang="en-US"/>
              <a:t>여기서 </a:t>
            </a:r>
            <a:r>
              <a:rPr lang="en-US" altLang="ko-KR"/>
              <a:t>AI </a:t>
            </a:r>
            <a:r>
              <a:rPr lang="ko-KR" altLang="en-US"/>
              <a:t>데이터란 단순 비행점수나 영상이 아니라</a:t>
            </a:r>
            <a:r>
              <a:rPr lang="en-US" altLang="ko-KR"/>
              <a:t>, </a:t>
            </a:r>
            <a:r>
              <a:rPr lang="ko-KR" altLang="en-US"/>
              <a:t>조종사가 어디를 보았고</a:t>
            </a:r>
            <a:r>
              <a:rPr lang="en-US" altLang="ko-KR"/>
              <a:t>, </a:t>
            </a:r>
            <a:r>
              <a:rPr lang="ko-KR" altLang="en-US"/>
              <a:t>항공기가 어떤 상태였고</a:t>
            </a:r>
            <a:r>
              <a:rPr lang="en-US" altLang="ko-KR"/>
              <a:t>, </a:t>
            </a:r>
            <a:r>
              <a:rPr lang="ko-KR" altLang="en-US"/>
              <a:t>어떤 조작을 언제 했는지를 같은 시간축으로 정렬한 데이터입니다</a:t>
            </a:r>
            <a:r>
              <a:rPr lang="en-US" altLang="ko-KR"/>
              <a:t>. </a:t>
            </a:r>
            <a:r>
              <a:rPr lang="ko-KR" altLang="en-US"/>
              <a:t>연구실에서 구현한 </a:t>
            </a:r>
            <a:r>
              <a:rPr lang="en-US" altLang="ko-KR"/>
              <a:t>X-Plane·Java·Tobii </a:t>
            </a:r>
            <a:r>
              <a:rPr lang="ko-KR" altLang="en-US"/>
              <a:t>프레임워크의 검증 결과를 먼저 보여드리고</a:t>
            </a:r>
            <a:r>
              <a:rPr lang="en-US" altLang="ko-KR"/>
              <a:t>, </a:t>
            </a:r>
            <a:r>
              <a:rPr lang="ko-KR" altLang="en-US"/>
              <a:t>이 수집</a:t>
            </a:r>
            <a:r>
              <a:rPr lang="en-US" altLang="ko-KR"/>
              <a:t>·</a:t>
            </a:r>
            <a:r>
              <a:rPr lang="ko-KR" altLang="en-US"/>
              <a:t>분석 구조를 해병항공의 인가된 시뮬레이터와 교관 디브리핑 체계에 어떻게 단계적으로 이식할 수 있는지 제안드리겠습니다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513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[00:55 | </a:t>
            </a:r>
            <a:r>
              <a:rPr lang="ko-KR" altLang="en-US"/>
              <a:t>누적 </a:t>
            </a:r>
            <a:r>
              <a:rPr lang="en-US" altLang="ko-KR"/>
              <a:t>01:35]
</a:t>
            </a:r>
            <a:r>
              <a:rPr lang="ko-KR" altLang="en-US"/>
              <a:t>결론은 세 가지입니다</a:t>
            </a:r>
            <a:r>
              <a:rPr lang="en-US" altLang="ko-KR"/>
              <a:t>. </a:t>
            </a:r>
            <a:r>
              <a:rPr lang="ko-KR" altLang="en-US"/>
              <a:t>첫째</a:t>
            </a:r>
            <a:r>
              <a:rPr lang="en-US" altLang="ko-KR"/>
              <a:t>, </a:t>
            </a:r>
            <a:r>
              <a:rPr lang="ko-KR" altLang="en-US"/>
              <a:t>수집과 분석 파이프라인은 이미 구현했습니다</a:t>
            </a:r>
            <a:r>
              <a:rPr lang="en-US" altLang="ko-KR"/>
              <a:t>. </a:t>
            </a:r>
            <a:r>
              <a:rPr lang="ko-KR" altLang="en-US"/>
              <a:t>둘째</a:t>
            </a:r>
            <a:r>
              <a:rPr lang="en-US" altLang="ko-KR"/>
              <a:t>, </a:t>
            </a:r>
            <a:r>
              <a:rPr lang="ko-KR" altLang="en-US"/>
              <a:t>소규모 기술검증이지만 </a:t>
            </a:r>
            <a:r>
              <a:rPr lang="en-US" altLang="ko-KR"/>
              <a:t>36</a:t>
            </a:r>
            <a:r>
              <a:rPr lang="ko-KR" altLang="en-US"/>
              <a:t>개 </a:t>
            </a:r>
            <a:r>
              <a:rPr lang="en-US" altLang="ko-KR"/>
              <a:t>trial</a:t>
            </a:r>
            <a:r>
              <a:rPr lang="ko-KR" altLang="en-US"/>
              <a:t>에서 실제로 시선과 조종 데이터를 동기화하고 </a:t>
            </a:r>
            <a:r>
              <a:rPr lang="en-US" altLang="ko-KR"/>
              <a:t>Matrix</a:t>
            </a:r>
            <a:r>
              <a:rPr lang="ko-KR" altLang="en-US"/>
              <a:t>까지 만들 수 있음을 확인했습니다</a:t>
            </a:r>
            <a:r>
              <a:rPr lang="en-US" altLang="ko-KR"/>
              <a:t>. </a:t>
            </a:r>
            <a:r>
              <a:rPr lang="ko-KR" altLang="en-US"/>
              <a:t>셋째</a:t>
            </a:r>
            <a:r>
              <a:rPr lang="en-US" altLang="ko-KR"/>
              <a:t>, </a:t>
            </a:r>
            <a:r>
              <a:rPr lang="ko-KR" altLang="en-US"/>
              <a:t>군 활용은 </a:t>
            </a:r>
            <a:r>
              <a:rPr lang="en-US" altLang="ko-KR"/>
              <a:t>X-Plane</a:t>
            </a:r>
            <a:r>
              <a:rPr lang="ko-KR" altLang="en-US"/>
              <a:t>을 그대로 가져가는 것이 아니라</a:t>
            </a:r>
            <a:r>
              <a:rPr lang="en-US" altLang="ko-KR"/>
              <a:t>, </a:t>
            </a:r>
            <a:r>
              <a:rPr lang="ko-KR" altLang="en-US"/>
              <a:t>인가된 마린온급 시뮬레이터에 </a:t>
            </a:r>
            <a:r>
              <a:rPr lang="en-US" altLang="ko-KR"/>
              <a:t>data adapter</a:t>
            </a:r>
            <a:r>
              <a:rPr lang="ko-KR" altLang="en-US"/>
              <a:t>를 붙이고 교관이 해석하는 디브리핑 도구로 이식하는 방향입니다</a:t>
            </a:r>
            <a:r>
              <a:rPr lang="en-US" altLang="ko-KR"/>
              <a:t>. </a:t>
            </a:r>
            <a:r>
              <a:rPr lang="ko-KR" altLang="en-US"/>
              <a:t>사람을 한 점수로 서열화하는 시스템은 제안하지 않습니다</a:t>
            </a:r>
            <a:r>
              <a:rPr lang="en-US" altLang="ko-KR"/>
              <a:t>. </a:t>
            </a:r>
            <a:r>
              <a:rPr lang="ko-KR" altLang="en-US"/>
              <a:t>훈련 중 행동을 설명하고 다음 훈련 목표를 정하는 보조도구를 제안합니다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146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[01:10 | </a:t>
            </a:r>
            <a:r>
              <a:rPr lang="ko-KR" altLang="en-US"/>
              <a:t>누적 </a:t>
            </a:r>
            <a:r>
              <a:rPr lang="en-US" altLang="ko-KR"/>
              <a:t>02:45]
</a:t>
            </a:r>
            <a:r>
              <a:rPr lang="ko-KR" altLang="en-US"/>
              <a:t>공식 자료에서 마린온은 병력과 장비 수송</a:t>
            </a:r>
            <a:r>
              <a:rPr lang="en-US" altLang="ko-KR"/>
              <a:t>, </a:t>
            </a:r>
            <a:r>
              <a:rPr lang="ko-KR" altLang="en-US"/>
              <a:t>공중강습</a:t>
            </a:r>
            <a:r>
              <a:rPr lang="en-US" altLang="ko-KR"/>
              <a:t>, </a:t>
            </a:r>
            <a:r>
              <a:rPr lang="ko-KR" altLang="en-US"/>
              <a:t>도서지역 신속대응 등 다양한 임무를 수행한다고 설명합니다</a:t>
            </a:r>
            <a:r>
              <a:rPr lang="en-US" altLang="ko-KR"/>
              <a:t>. </a:t>
            </a:r>
            <a:r>
              <a:rPr lang="ko-KR" altLang="en-US"/>
              <a:t>또한 </a:t>
            </a:r>
            <a:r>
              <a:rPr lang="en-US" altLang="ko-KR"/>
              <a:t>KAI</a:t>
            </a:r>
            <a:r>
              <a:rPr lang="ko-KR" altLang="en-US"/>
              <a:t>는 </a:t>
            </a:r>
            <a:r>
              <a:rPr lang="en-US" altLang="ko-KR"/>
              <a:t>MUH </a:t>
            </a:r>
            <a:r>
              <a:rPr lang="ko-KR" altLang="en-US"/>
              <a:t>시뮬레이터를 훈련체계로 제시하고 있고</a:t>
            </a:r>
            <a:r>
              <a:rPr lang="en-US" altLang="ko-KR"/>
              <a:t>, </a:t>
            </a:r>
            <a:r>
              <a:rPr lang="ko-KR" altLang="en-US"/>
              <a:t>방위사업청도 고난도 상황과 비상상황을 반복 훈련하는 시뮬레이터의 가치를 강조하고 있습니다</a:t>
            </a:r>
            <a:r>
              <a:rPr lang="en-US" altLang="ko-KR"/>
              <a:t>. </a:t>
            </a:r>
            <a:r>
              <a:rPr lang="ko-KR" altLang="en-US"/>
              <a:t>즉 상황을 재현하는 기반은 이미 존재합니다</a:t>
            </a:r>
            <a:r>
              <a:rPr lang="en-US" altLang="ko-KR"/>
              <a:t>. </a:t>
            </a:r>
            <a:r>
              <a:rPr lang="ko-KR" altLang="en-US"/>
              <a:t>제가 제안하는 발전 방향은 그 훈련을 끝낸 뒤 ‘잘했다</a:t>
            </a:r>
            <a:r>
              <a:rPr lang="en-US" altLang="ko-KR"/>
              <a:t>, </a:t>
            </a:r>
            <a:r>
              <a:rPr lang="ko-KR" altLang="en-US"/>
              <a:t>부족했다’만 남기는 것이 아니라</a:t>
            </a:r>
            <a:r>
              <a:rPr lang="en-US" altLang="ko-KR"/>
              <a:t>, </a:t>
            </a:r>
            <a:r>
              <a:rPr lang="ko-KR" altLang="en-US"/>
              <a:t>무엇을 보고 어떤 조작을 언제 했는지를 근거로 설명하고 다음 훈련에 반영하는 폐쇄루프를 만드는 것입니다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32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[00:55 | </a:t>
            </a:r>
            <a:r>
              <a:rPr lang="ko-KR" altLang="en-US"/>
              <a:t>누적 </a:t>
            </a:r>
            <a:r>
              <a:rPr lang="en-US" altLang="ko-KR"/>
              <a:t>03:40]
</a:t>
            </a:r>
            <a:r>
              <a:rPr lang="ko-KR" altLang="en-US"/>
              <a:t>비행 시뮬레이터는 경로</a:t>
            </a:r>
            <a:r>
              <a:rPr lang="en-US" altLang="ko-KR"/>
              <a:t>, </a:t>
            </a:r>
            <a:r>
              <a:rPr lang="ko-KR" altLang="en-US"/>
              <a:t>고도</a:t>
            </a:r>
            <a:r>
              <a:rPr lang="en-US" altLang="ko-KR"/>
              <a:t>, </a:t>
            </a:r>
            <a:r>
              <a:rPr lang="ko-KR" altLang="en-US"/>
              <a:t>속도와 임무 성공 여부를 잘 기록합니다</a:t>
            </a:r>
            <a:r>
              <a:rPr lang="en-US" altLang="ko-KR"/>
              <a:t>. </a:t>
            </a:r>
            <a:r>
              <a:rPr lang="ko-KR" altLang="en-US"/>
              <a:t>교관의 전문적인 관찰도 핵심입니다</a:t>
            </a:r>
            <a:r>
              <a:rPr lang="en-US" altLang="ko-KR"/>
              <a:t>. </a:t>
            </a:r>
            <a:r>
              <a:rPr lang="ko-KR" altLang="en-US"/>
              <a:t>다만 훈련이 복잡해질수록 조종사가 왜 늦게 반응했는지</a:t>
            </a:r>
            <a:r>
              <a:rPr lang="en-US" altLang="ko-KR"/>
              <a:t>, </a:t>
            </a:r>
            <a:r>
              <a:rPr lang="ko-KR" altLang="en-US"/>
              <a:t>계기를 지나치게 오래 보았는지</a:t>
            </a:r>
            <a:r>
              <a:rPr lang="en-US" altLang="ko-KR"/>
              <a:t>, </a:t>
            </a:r>
            <a:r>
              <a:rPr lang="ko-KR" altLang="en-US"/>
              <a:t>외부 탐색이 부족했는지 같은 판단 과정을 사후에 완전히 재구성하기 어렵습니다</a:t>
            </a:r>
            <a:r>
              <a:rPr lang="en-US" altLang="ko-KR"/>
              <a:t>. </a:t>
            </a:r>
            <a:r>
              <a:rPr lang="ko-KR" altLang="en-US"/>
              <a:t>그래서 기존 기록을 대체하는 것이 아니라 시선</a:t>
            </a:r>
            <a:r>
              <a:rPr lang="en-US" altLang="ko-KR"/>
              <a:t>, </a:t>
            </a:r>
            <a:r>
              <a:rPr lang="ko-KR" altLang="en-US"/>
              <a:t>상황 이벤트</a:t>
            </a:r>
            <a:r>
              <a:rPr lang="en-US" altLang="ko-KR"/>
              <a:t>, </a:t>
            </a:r>
            <a:r>
              <a:rPr lang="ko-KR" altLang="en-US"/>
              <a:t>조종입력의 시간 관계를 추가로 남겨야 합니다</a:t>
            </a:r>
            <a:r>
              <a:rPr lang="en-US" altLang="ko-KR"/>
              <a:t>. </a:t>
            </a:r>
            <a:r>
              <a:rPr lang="ko-KR" altLang="en-US"/>
              <a:t>이 데이터가 있어야 교관의 평가를 반박하는 것이 아니라</a:t>
            </a:r>
            <a:r>
              <a:rPr lang="en-US" altLang="ko-KR"/>
              <a:t>, </a:t>
            </a:r>
            <a:r>
              <a:rPr lang="ko-KR" altLang="en-US"/>
              <a:t>평가의 근거를 더 구체적으로 보여줄 수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458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[01:20 | </a:t>
            </a:r>
            <a:r>
              <a:rPr lang="ko-KR" altLang="en-US"/>
              <a:t>누적 </a:t>
            </a:r>
            <a:r>
              <a:rPr lang="en-US" altLang="ko-KR"/>
              <a:t>05:00]
</a:t>
            </a:r>
            <a:r>
              <a:rPr lang="ko-KR" altLang="en-US"/>
              <a:t>현재 프레임워크는 네 종류의 데이터를 모읍니다</a:t>
            </a:r>
            <a:r>
              <a:rPr lang="en-US" altLang="ko-KR"/>
              <a:t>. </a:t>
            </a:r>
            <a:r>
              <a:rPr lang="ko-KR" altLang="en-US"/>
              <a:t>첫째 항공기 상태</a:t>
            </a:r>
            <a:r>
              <a:rPr lang="en-US" altLang="ko-KR"/>
              <a:t>, </a:t>
            </a:r>
            <a:r>
              <a:rPr lang="ko-KR" altLang="en-US"/>
              <a:t>둘째 조종 입력</a:t>
            </a:r>
            <a:r>
              <a:rPr lang="en-US" altLang="ko-KR"/>
              <a:t>, </a:t>
            </a:r>
            <a:r>
              <a:rPr lang="ko-KR" altLang="en-US"/>
              <a:t>셋째 시선 좌표</a:t>
            </a:r>
            <a:r>
              <a:rPr lang="en-US" altLang="ko-KR"/>
              <a:t>, </a:t>
            </a:r>
            <a:r>
              <a:rPr lang="ko-KR" altLang="en-US"/>
              <a:t>넷째 시나리오 이벤트입니다</a:t>
            </a:r>
            <a:r>
              <a:rPr lang="en-US" altLang="ko-KR"/>
              <a:t>. </a:t>
            </a:r>
            <a:r>
              <a:rPr lang="ko-KR" altLang="en-US"/>
              <a:t>중요한 점은 이들을 단순히 한 파일에 섞지 않고 원본을 각각 보존한 뒤 </a:t>
            </a:r>
            <a:r>
              <a:rPr lang="en-US" altLang="ko-KR"/>
              <a:t>PC </a:t>
            </a:r>
            <a:r>
              <a:rPr lang="ko-KR" altLang="en-US"/>
              <a:t>시간으로 병합한다는 것입니다</a:t>
            </a:r>
            <a:r>
              <a:rPr lang="en-US" altLang="ko-KR"/>
              <a:t>. </a:t>
            </a:r>
            <a:r>
              <a:rPr lang="ko-KR" altLang="en-US"/>
              <a:t>그래서 반응시간 하나를 제시하더라도 어떤 </a:t>
            </a:r>
            <a:r>
              <a:rPr lang="en-US" altLang="ko-KR"/>
              <a:t>event</a:t>
            </a:r>
            <a:r>
              <a:rPr lang="ko-KR" altLang="en-US"/>
              <a:t>와 어떤 </a:t>
            </a:r>
            <a:r>
              <a:rPr lang="en-US" altLang="ko-KR"/>
              <a:t>control row</a:t>
            </a:r>
            <a:r>
              <a:rPr lang="ko-KR" altLang="en-US"/>
              <a:t>에서 나왔는지 다시 확인할 수 있습니다</a:t>
            </a:r>
            <a:r>
              <a:rPr lang="en-US" altLang="ko-KR"/>
              <a:t>. </a:t>
            </a:r>
            <a:r>
              <a:rPr lang="ko-KR" altLang="en-US"/>
              <a:t>군 시뮬레이터로 옮길 때도 분석 알고리즘보다 먼저 이 데이터 계약과 시간동기 구조를 확보해야 합니다</a:t>
            </a:r>
            <a:r>
              <a:rPr lang="en-US" altLang="ko-KR"/>
              <a:t>. </a:t>
            </a:r>
            <a:r>
              <a:rPr lang="ko-KR" altLang="en-US"/>
              <a:t>데이터가 감사 가능해야 교관이 신뢰하고 수정할 수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012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[01:20 | </a:t>
            </a:r>
            <a:r>
              <a:rPr lang="ko-KR" altLang="en-US"/>
              <a:t>누적 </a:t>
            </a:r>
            <a:r>
              <a:rPr lang="en-US" altLang="ko-KR"/>
              <a:t>06:20]
</a:t>
            </a:r>
            <a:r>
              <a:rPr lang="ko-KR" altLang="en-US"/>
              <a:t>참가자가 세션을 한 번 시작하면 여섯 </a:t>
            </a:r>
            <a:r>
              <a:rPr lang="en-US" altLang="ko-KR"/>
              <a:t>trial</a:t>
            </a:r>
            <a:r>
              <a:rPr lang="ko-KR" altLang="en-US"/>
              <a:t>이 자동으로 진행됩니다</a:t>
            </a:r>
            <a:r>
              <a:rPr lang="en-US" altLang="ko-KR"/>
              <a:t>. </a:t>
            </a:r>
            <a:r>
              <a:rPr lang="ko-KR" altLang="en-US"/>
              <a:t>매 </a:t>
            </a:r>
            <a:r>
              <a:rPr lang="en-US" altLang="ko-KR"/>
              <a:t>trial</a:t>
            </a:r>
            <a:r>
              <a:rPr lang="ko-KR" altLang="en-US"/>
              <a:t>마다 음성 속도 과제를 주고</a:t>
            </a:r>
            <a:r>
              <a:rPr lang="en-US" altLang="ko-KR"/>
              <a:t>, </a:t>
            </a:r>
            <a:r>
              <a:rPr lang="ko-KR" altLang="en-US"/>
              <a:t>속도가 일정 범위에서 유지되면 침입기를 생성합니다</a:t>
            </a:r>
            <a:r>
              <a:rPr lang="en-US" altLang="ko-KR"/>
              <a:t>. </a:t>
            </a:r>
            <a:r>
              <a:rPr lang="ko-KR" altLang="en-US"/>
              <a:t>이후 화면에서 침입기가 </a:t>
            </a:r>
            <a:r>
              <a:rPr lang="en-US" altLang="ko-KR"/>
              <a:t>20 pixel </a:t>
            </a:r>
            <a:r>
              <a:rPr lang="ko-KR" altLang="en-US"/>
              <a:t>크기에 도달한 시점을 시각적 관측 기회로 기록하고</a:t>
            </a:r>
            <a:r>
              <a:rPr lang="en-US" altLang="ko-KR"/>
              <a:t>, </a:t>
            </a:r>
            <a:r>
              <a:rPr lang="ko-KR" altLang="en-US"/>
              <a:t>지속적인 조종 입력변화를 반응으로 검출합니다</a:t>
            </a:r>
            <a:r>
              <a:rPr lang="en-US" altLang="ko-KR"/>
              <a:t>. </a:t>
            </a:r>
            <a:r>
              <a:rPr lang="ko-KR" altLang="en-US"/>
              <a:t>전</a:t>
            </a:r>
            <a:r>
              <a:rPr lang="en-US" altLang="ko-KR"/>
              <a:t>·</a:t>
            </a:r>
            <a:r>
              <a:rPr lang="ko-KR" altLang="en-US"/>
              <a:t>좌</a:t>
            </a:r>
            <a:r>
              <a:rPr lang="en-US" altLang="ko-KR"/>
              <a:t>·</a:t>
            </a:r>
            <a:r>
              <a:rPr lang="ko-KR" altLang="en-US"/>
              <a:t>우 방향은 각각 두 번씩 나오며 순서는 바뀝니다</a:t>
            </a:r>
            <a:r>
              <a:rPr lang="en-US" altLang="ko-KR"/>
              <a:t>. trial </a:t>
            </a:r>
            <a:r>
              <a:rPr lang="ko-KR" altLang="en-US"/>
              <a:t>사이에는 </a:t>
            </a:r>
            <a:r>
              <a:rPr lang="en-US" altLang="ko-KR"/>
              <a:t>10~15</a:t>
            </a:r>
            <a:r>
              <a:rPr lang="ko-KR" altLang="en-US"/>
              <a:t>초 </a:t>
            </a:r>
            <a:r>
              <a:rPr lang="en-US" altLang="ko-KR"/>
              <a:t>washout</a:t>
            </a:r>
            <a:r>
              <a:rPr lang="ko-KR" altLang="en-US"/>
              <a:t>과 </a:t>
            </a:r>
            <a:r>
              <a:rPr lang="en-US" altLang="ko-KR"/>
              <a:t>3</a:t>
            </a:r>
            <a:r>
              <a:rPr lang="ko-KR" altLang="en-US"/>
              <a:t>초 자세 안정 조건을 둡니다</a:t>
            </a:r>
            <a:r>
              <a:rPr lang="en-US" altLang="ko-KR"/>
              <a:t>. </a:t>
            </a:r>
            <a:r>
              <a:rPr lang="ko-KR" altLang="en-US"/>
              <a:t>이 자동화는 참가자의 키 입력 오차를 줄이고</a:t>
            </a:r>
            <a:r>
              <a:rPr lang="en-US" altLang="ko-KR"/>
              <a:t>, </a:t>
            </a:r>
            <a:r>
              <a:rPr lang="ko-KR" altLang="en-US"/>
              <a:t>연속 운용 속에서도 반복 가능한 데이터를 만드는 역할을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62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[01:10 | </a:t>
            </a:r>
            <a:r>
              <a:rPr lang="ko-KR" altLang="en-US"/>
              <a:t>누적 </a:t>
            </a:r>
            <a:r>
              <a:rPr lang="en-US" altLang="ko-KR"/>
              <a:t>07:30]
</a:t>
            </a:r>
            <a:r>
              <a:rPr lang="ko-KR" altLang="en-US"/>
              <a:t>분석에서 가장 중요한 구분입니다</a:t>
            </a:r>
            <a:r>
              <a:rPr lang="en-US" altLang="ko-KR"/>
              <a:t>. </a:t>
            </a:r>
            <a:r>
              <a:rPr lang="ko-KR" altLang="en-US"/>
              <a:t>침입기 생성은 상황 노출 시점입니다</a:t>
            </a:r>
            <a:r>
              <a:rPr lang="en-US" altLang="ko-KR"/>
              <a:t>. </a:t>
            </a:r>
            <a:r>
              <a:rPr lang="ko-KR" altLang="en-US"/>
              <a:t>화면상 크기가 </a:t>
            </a:r>
            <a:r>
              <a:rPr lang="en-US" altLang="ko-KR"/>
              <a:t>20 pixel</a:t>
            </a:r>
            <a:r>
              <a:rPr lang="ko-KR" altLang="en-US"/>
              <a:t>에 도달한 시점은 이 장비 구성에서 비교 가능한 시각적 기회입니다</a:t>
            </a:r>
            <a:r>
              <a:rPr lang="en-US" altLang="ko-KR"/>
              <a:t>. </a:t>
            </a:r>
            <a:r>
              <a:rPr lang="ko-KR" altLang="en-US"/>
              <a:t>그러나 그 순간 조종사가 실제로 인지했다고 말할 수는 없습니다</a:t>
            </a:r>
            <a:r>
              <a:rPr lang="en-US" altLang="ko-KR"/>
              <a:t>. </a:t>
            </a:r>
            <a:r>
              <a:rPr lang="ko-KR" altLang="en-US"/>
              <a:t>인지는 현재 직접 측정하지 않았습니다</a:t>
            </a:r>
            <a:r>
              <a:rPr lang="en-US" altLang="ko-KR"/>
              <a:t>. </a:t>
            </a:r>
            <a:r>
              <a:rPr lang="ko-KR" altLang="en-US"/>
              <a:t>마지막으로 조종 입력이 기준선에서 일정 시간 이상 변하면 반응 </a:t>
            </a:r>
            <a:r>
              <a:rPr lang="en-US" altLang="ko-KR"/>
              <a:t>event</a:t>
            </a:r>
            <a:r>
              <a:rPr lang="ko-KR" altLang="en-US"/>
              <a:t>를 기록합니다</a:t>
            </a:r>
            <a:r>
              <a:rPr lang="en-US" altLang="ko-KR"/>
              <a:t>. </a:t>
            </a:r>
            <a:r>
              <a:rPr lang="ko-KR" altLang="en-US"/>
              <a:t>따라서 발표에서 사용하는 반응시간은 </a:t>
            </a:r>
            <a:r>
              <a:rPr lang="en-US" altLang="ko-KR"/>
              <a:t>20 pixel </a:t>
            </a:r>
            <a:r>
              <a:rPr lang="ko-KR" altLang="en-US"/>
              <a:t>기회 이후 운용상 반응시간입니다</a:t>
            </a:r>
            <a:r>
              <a:rPr lang="en-US" altLang="ko-KR"/>
              <a:t>. </a:t>
            </a:r>
            <a:r>
              <a:rPr lang="ko-KR" altLang="en-US"/>
              <a:t>이 용어 구분을 지켜야 데이터가 할 수 있는 말과 할 수 없는 말을 혼동하지 않습니다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591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[01:15 | </a:t>
            </a:r>
            <a:r>
              <a:rPr lang="ko-KR" altLang="en-US"/>
              <a:t>누적 </a:t>
            </a:r>
            <a:r>
              <a:rPr lang="en-US" altLang="ko-KR"/>
              <a:t>08:45]
</a:t>
            </a:r>
            <a:r>
              <a:rPr lang="ko-KR" altLang="en-US"/>
              <a:t>시선은 화면 좌표만으로는 의미가 없습니다</a:t>
            </a:r>
            <a:r>
              <a:rPr lang="en-US" altLang="ko-KR"/>
              <a:t>. </a:t>
            </a:r>
            <a:r>
              <a:rPr lang="ko-KR" altLang="en-US"/>
              <a:t>그래서 계기판의 </a:t>
            </a:r>
            <a:r>
              <a:rPr lang="en-US" altLang="ko-KR"/>
              <a:t>airspeed, attitude, altitude </a:t>
            </a:r>
            <a:r>
              <a:rPr lang="ko-KR" altLang="en-US"/>
              <a:t>같은 영역은 고정 </a:t>
            </a:r>
            <a:r>
              <a:rPr lang="en-US" altLang="ko-KR"/>
              <a:t>AOI</a:t>
            </a:r>
            <a:r>
              <a:rPr lang="ko-KR" altLang="en-US"/>
              <a:t>로 정의합니다</a:t>
            </a:r>
            <a:r>
              <a:rPr lang="en-US" altLang="ko-KR"/>
              <a:t>. </a:t>
            </a:r>
            <a:r>
              <a:rPr lang="ko-KR" altLang="en-US"/>
              <a:t>반면 침입기와 활주로는 항공기 자세와 위치에 따라 화면에서 움직이므로 매 순간 좌표와 크기를 다시 계산해 동적 </a:t>
            </a:r>
            <a:r>
              <a:rPr lang="en-US" altLang="ko-KR"/>
              <a:t>AOI</a:t>
            </a:r>
            <a:r>
              <a:rPr lang="ko-KR" altLang="en-US"/>
              <a:t>로 만듭니다</a:t>
            </a:r>
            <a:r>
              <a:rPr lang="en-US" altLang="ko-KR"/>
              <a:t>. </a:t>
            </a:r>
            <a:r>
              <a:rPr lang="ko-KR" altLang="en-US"/>
              <a:t>직접 겹치지 않는 외부 시선은 모니터 격자와 방향 정보를 보조 근거로 남깁니다</a:t>
            </a:r>
            <a:r>
              <a:rPr lang="en-US" altLang="ko-KR"/>
              <a:t>. </a:t>
            </a:r>
            <a:r>
              <a:rPr lang="ko-KR" altLang="en-US"/>
              <a:t>중요한 제한은 </a:t>
            </a:r>
            <a:r>
              <a:rPr lang="en-US" altLang="ko-KR"/>
              <a:t>45 pixel </a:t>
            </a:r>
            <a:r>
              <a:rPr lang="ko-KR" altLang="en-US"/>
              <a:t>여유폭이 아직 </a:t>
            </a:r>
            <a:r>
              <a:rPr lang="en-US" altLang="ko-KR"/>
              <a:t>engineering candidate</a:t>
            </a:r>
            <a:r>
              <a:rPr lang="ko-KR" altLang="en-US"/>
              <a:t>라는 점입니다</a:t>
            </a:r>
            <a:r>
              <a:rPr lang="en-US" altLang="ko-KR"/>
              <a:t>. </a:t>
            </a:r>
            <a:r>
              <a:rPr lang="ko-KR" altLang="en-US"/>
              <a:t>현재 결과는 분류 파이프라인 검증에는 쓸 수 있지만</a:t>
            </a:r>
            <a:r>
              <a:rPr lang="en-US" altLang="ko-KR"/>
              <a:t>, </a:t>
            </a:r>
            <a:r>
              <a:rPr lang="ko-KR" altLang="en-US"/>
              <a:t>군 적용 전에는 목표를 실제로 보게 하는 검증 </a:t>
            </a:r>
            <a:r>
              <a:rPr lang="en-US" altLang="ko-KR"/>
              <a:t>trial</a:t>
            </a:r>
            <a:r>
              <a:rPr lang="ko-KR" altLang="en-US"/>
              <a:t>로 여유폭을 확정해야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837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[01:20 | </a:t>
            </a:r>
            <a:r>
              <a:rPr lang="ko-KR" altLang="en-US"/>
              <a:t>누적 </a:t>
            </a:r>
            <a:r>
              <a:rPr lang="en-US" altLang="ko-KR"/>
              <a:t>10:05]
</a:t>
            </a:r>
            <a:r>
              <a:rPr lang="ko-KR" altLang="en-US"/>
              <a:t>시선 </a:t>
            </a:r>
            <a:r>
              <a:rPr lang="en-US" altLang="ko-KR"/>
              <a:t>Matrix</a:t>
            </a:r>
            <a:r>
              <a:rPr lang="ko-KR" altLang="en-US"/>
              <a:t>는 어렵게 보이지만 읽는 방법은 단순합니다</a:t>
            </a:r>
            <a:r>
              <a:rPr lang="en-US" altLang="ko-KR"/>
              <a:t>. </a:t>
            </a:r>
            <a:r>
              <a:rPr lang="ko-KR" altLang="en-US"/>
              <a:t>행이 지금 보고 있는 곳</a:t>
            </a:r>
            <a:r>
              <a:rPr lang="en-US" altLang="ko-KR"/>
              <a:t>, </a:t>
            </a:r>
            <a:r>
              <a:rPr lang="ko-KR" altLang="en-US"/>
              <a:t>열이 다음 </a:t>
            </a:r>
            <a:r>
              <a:rPr lang="en-US" altLang="ko-KR"/>
              <a:t>200 millisecond</a:t>
            </a:r>
            <a:r>
              <a:rPr lang="ko-KR" altLang="en-US"/>
              <a:t>에 본 곳입니다</a:t>
            </a:r>
            <a:r>
              <a:rPr lang="en-US" altLang="ko-KR"/>
              <a:t>. </a:t>
            </a:r>
            <a:r>
              <a:rPr lang="ko-KR" altLang="en-US"/>
              <a:t>대각선은 같은 영역을 유지한 확률이고</a:t>
            </a:r>
            <a:r>
              <a:rPr lang="en-US" altLang="ko-KR"/>
              <a:t>, </a:t>
            </a:r>
            <a:r>
              <a:rPr lang="ko-KR" altLang="en-US"/>
              <a:t>비대각선은 다른 영역으로 이동한 확률입니다</a:t>
            </a:r>
            <a:r>
              <a:rPr lang="en-US" altLang="ko-KR"/>
              <a:t>. </a:t>
            </a:r>
            <a:r>
              <a:rPr lang="ko-KR" altLang="en-US"/>
              <a:t>예를 들어 </a:t>
            </a:r>
            <a:r>
              <a:rPr lang="en-US" altLang="ko-KR"/>
              <a:t>intruder </a:t>
            </a:r>
            <a:r>
              <a:rPr lang="ko-KR" altLang="en-US"/>
              <a:t>행의 대각선 </a:t>
            </a:r>
            <a:r>
              <a:rPr lang="en-US" altLang="ko-KR"/>
              <a:t>0.79</a:t>
            </a:r>
            <a:r>
              <a:rPr lang="ko-KR" altLang="en-US"/>
              <a:t>는 침입기 영역을 본 뒤 다음 구간에도 그 영역에 머문 비율입니다</a:t>
            </a:r>
            <a:r>
              <a:rPr lang="en-US" altLang="ko-KR"/>
              <a:t>. </a:t>
            </a:r>
            <a:r>
              <a:rPr lang="ko-KR" altLang="en-US"/>
              <a:t>미래에는 숙련 조종사의 </a:t>
            </a:r>
            <a:r>
              <a:rPr lang="en-US" altLang="ko-KR"/>
              <a:t>Matrix</a:t>
            </a:r>
            <a:r>
              <a:rPr lang="ko-KR" altLang="en-US"/>
              <a:t>나 </a:t>
            </a:r>
            <a:r>
              <a:rPr lang="en-US" altLang="ko-KR"/>
              <a:t>SOP</a:t>
            </a:r>
            <a:r>
              <a:rPr lang="ko-KR" altLang="en-US"/>
              <a:t>가 요구하는 </a:t>
            </a:r>
            <a:r>
              <a:rPr lang="en-US" altLang="ko-KR"/>
              <a:t>scan pattern</a:t>
            </a:r>
            <a:r>
              <a:rPr lang="ko-KR" altLang="en-US"/>
              <a:t>과 비교해 ‘무조건 틀렸다’가 아니라</a:t>
            </a:r>
            <a:r>
              <a:rPr lang="en-US" altLang="ko-KR"/>
              <a:t>, </a:t>
            </a:r>
            <a:r>
              <a:rPr lang="ko-KR" altLang="en-US"/>
              <a:t>왜 특정 계기나 외부 시야에 오래 고착했는지를 교관이 질문할 수 있습니다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Matrix</a:t>
            </a:r>
            <a:r>
              <a:rPr lang="ko-KR" altLang="en-US"/>
              <a:t>는 기술검증 표본이므로 기준모델로 사용하면 안 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679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[01:20 | </a:t>
            </a:r>
            <a:r>
              <a:rPr lang="ko-KR" altLang="en-US"/>
              <a:t>누적 </a:t>
            </a:r>
            <a:r>
              <a:rPr lang="en-US" altLang="ko-KR"/>
              <a:t>11:25]
</a:t>
            </a:r>
            <a:r>
              <a:rPr lang="ko-KR" altLang="en-US"/>
              <a:t>연구실 기술검증에서는 </a:t>
            </a:r>
            <a:r>
              <a:rPr lang="en-US" altLang="ko-KR"/>
              <a:t>6</a:t>
            </a:r>
            <a:r>
              <a:rPr lang="ko-KR" altLang="en-US"/>
              <a:t>명이 자동 세션을 끝내 </a:t>
            </a:r>
            <a:r>
              <a:rPr lang="en-US" altLang="ko-KR"/>
              <a:t>36</a:t>
            </a:r>
            <a:r>
              <a:rPr lang="ko-KR" altLang="en-US"/>
              <a:t>개 균형 </a:t>
            </a:r>
            <a:r>
              <a:rPr lang="en-US" altLang="ko-KR"/>
              <a:t>trial</a:t>
            </a:r>
            <a:r>
              <a:rPr lang="ko-KR" altLang="en-US"/>
              <a:t>을 확보했습니다</a:t>
            </a:r>
            <a:r>
              <a:rPr lang="en-US" altLang="ko-KR"/>
              <a:t>. trial </a:t>
            </a:r>
            <a:r>
              <a:rPr lang="ko-KR" altLang="en-US"/>
              <a:t>구간 </a:t>
            </a:r>
            <a:r>
              <a:rPr lang="en-US" altLang="ko-KR"/>
              <a:t>gaze validity</a:t>
            </a:r>
            <a:r>
              <a:rPr lang="ko-KR" altLang="en-US"/>
              <a:t>는 참가자 동일가중 약 </a:t>
            </a:r>
            <a:r>
              <a:rPr lang="en-US" altLang="ko-KR"/>
              <a:t>96.3</a:t>
            </a:r>
            <a:r>
              <a:rPr lang="ko-KR" altLang="en-US"/>
              <a:t>퍼센트였고</a:t>
            </a:r>
            <a:r>
              <a:rPr lang="en-US" altLang="ko-KR"/>
              <a:t>, 36</a:t>
            </a:r>
            <a:r>
              <a:rPr lang="ko-KR" altLang="en-US"/>
              <a:t>개 중 </a:t>
            </a:r>
            <a:r>
              <a:rPr lang="en-US" altLang="ko-KR"/>
              <a:t>31</a:t>
            </a:r>
            <a:r>
              <a:rPr lang="ko-KR" altLang="en-US"/>
              <a:t>개에서 지속적인 조종 입력변화를 검출했습니다</a:t>
            </a:r>
            <a:r>
              <a:rPr lang="en-US" altLang="ko-KR"/>
              <a:t>. 200 millisecond </a:t>
            </a:r>
            <a:r>
              <a:rPr lang="ko-KR" altLang="en-US"/>
              <a:t>시선 상태 전이는 </a:t>
            </a:r>
            <a:r>
              <a:rPr lang="en-US" altLang="ko-KR"/>
              <a:t>5,942</a:t>
            </a:r>
            <a:r>
              <a:rPr lang="ko-KR" altLang="en-US"/>
              <a:t>개였고</a:t>
            </a:r>
            <a:r>
              <a:rPr lang="en-US" altLang="ko-KR"/>
              <a:t>, </a:t>
            </a:r>
            <a:r>
              <a:rPr lang="ko-KR" altLang="en-US"/>
              <a:t>같은 영역을 유지한 비율은 </a:t>
            </a:r>
            <a:r>
              <a:rPr lang="en-US" altLang="ko-KR"/>
              <a:t>79.9</a:t>
            </a:r>
            <a:r>
              <a:rPr lang="ko-KR" altLang="en-US"/>
              <a:t>퍼센트였습니다</a:t>
            </a:r>
            <a:r>
              <a:rPr lang="en-US" altLang="ko-KR"/>
              <a:t>. </a:t>
            </a:r>
            <a:r>
              <a:rPr lang="ko-KR" altLang="en-US"/>
              <a:t>반응이 검출된 </a:t>
            </a:r>
            <a:r>
              <a:rPr lang="en-US" altLang="ko-KR"/>
              <a:t>trial</a:t>
            </a:r>
            <a:r>
              <a:rPr lang="ko-KR" altLang="en-US"/>
              <a:t>의 </a:t>
            </a:r>
            <a:r>
              <a:rPr lang="en-US" altLang="ko-KR"/>
              <a:t>20 pixel </a:t>
            </a:r>
            <a:r>
              <a:rPr lang="ko-KR" altLang="en-US"/>
              <a:t>기회 이후 반응시간은 평균 </a:t>
            </a:r>
            <a:r>
              <a:rPr lang="en-US" altLang="ko-KR"/>
              <a:t>3.135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중앙값 </a:t>
            </a:r>
            <a:r>
              <a:rPr lang="en-US" altLang="ko-KR"/>
              <a:t>2.138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다만 속도 </a:t>
            </a:r>
            <a:r>
              <a:rPr lang="en-US" altLang="ko-KR"/>
              <a:t>gate</a:t>
            </a:r>
            <a:r>
              <a:rPr lang="ko-KR" altLang="en-US"/>
              <a:t>의 절반 이상이 </a:t>
            </a:r>
            <a:r>
              <a:rPr lang="en-US" altLang="ko-KR"/>
              <a:t>timeout</a:t>
            </a:r>
            <a:r>
              <a:rPr lang="ko-KR" altLang="en-US"/>
              <a:t>이었기 때문에 </a:t>
            </a:r>
            <a:r>
              <a:rPr lang="en-US" altLang="ko-KR"/>
              <a:t>confirmatory experiment </a:t>
            </a:r>
            <a:r>
              <a:rPr lang="ko-KR" altLang="en-US"/>
              <a:t>전에 수정해야 합니다</a:t>
            </a:r>
            <a:r>
              <a:rPr lang="en-US" altLang="ko-KR"/>
              <a:t>. </a:t>
            </a:r>
            <a:r>
              <a:rPr lang="ko-KR" altLang="en-US"/>
              <a:t>이 수치는 파이프라인 작동을 보여주지만 숙련도 우열을 보여주는 결과는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713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[01:10 | </a:t>
            </a:r>
            <a:r>
              <a:rPr lang="ko-KR" altLang="en-US"/>
              <a:t>누적 </a:t>
            </a:r>
            <a:r>
              <a:rPr lang="en-US" altLang="ko-KR"/>
              <a:t>12:35]
</a:t>
            </a:r>
            <a:r>
              <a:rPr lang="ko-KR" altLang="en-US"/>
              <a:t>상황 단계별로 보면 생성 전 </a:t>
            </a:r>
            <a:r>
              <a:rPr lang="en-US" altLang="ko-KR"/>
              <a:t>self-transition</a:t>
            </a:r>
            <a:r>
              <a:rPr lang="ko-KR" altLang="en-US"/>
              <a:t>은 </a:t>
            </a:r>
            <a:r>
              <a:rPr lang="en-US" altLang="ko-KR"/>
              <a:t>79.9</a:t>
            </a:r>
            <a:r>
              <a:rPr lang="ko-KR" altLang="en-US"/>
              <a:t>퍼센트</a:t>
            </a:r>
            <a:r>
              <a:rPr lang="en-US" altLang="ko-KR"/>
              <a:t>, </a:t>
            </a:r>
            <a:r>
              <a:rPr lang="ko-KR" altLang="en-US"/>
              <a:t>생성부터 </a:t>
            </a:r>
            <a:r>
              <a:rPr lang="en-US" altLang="ko-KR"/>
              <a:t>20 pixel</a:t>
            </a:r>
            <a:r>
              <a:rPr lang="ko-KR" altLang="en-US"/>
              <a:t>까지는 </a:t>
            </a:r>
            <a:r>
              <a:rPr lang="en-US" altLang="ko-KR"/>
              <a:t>82</a:t>
            </a:r>
            <a:r>
              <a:rPr lang="ko-KR" altLang="en-US"/>
              <a:t>퍼센트로 약간 높아지고</a:t>
            </a:r>
            <a:r>
              <a:rPr lang="en-US" altLang="ko-KR"/>
              <a:t>, 20 pixel </a:t>
            </a:r>
            <a:r>
              <a:rPr lang="ko-KR" altLang="en-US"/>
              <a:t>이후에는 </a:t>
            </a:r>
            <a:r>
              <a:rPr lang="en-US" altLang="ko-KR"/>
              <a:t>78.2</a:t>
            </a:r>
            <a:r>
              <a:rPr lang="ko-KR" altLang="en-US"/>
              <a:t>퍼센트로 낮아졌습니다</a:t>
            </a:r>
            <a:r>
              <a:rPr lang="en-US" altLang="ko-KR"/>
              <a:t>. </a:t>
            </a:r>
            <a:r>
              <a:rPr lang="ko-KR" altLang="en-US"/>
              <a:t>반대로 분당 </a:t>
            </a:r>
            <a:r>
              <a:rPr lang="en-US" altLang="ko-KR"/>
              <a:t>AOI </a:t>
            </a:r>
            <a:r>
              <a:rPr lang="ko-KR" altLang="en-US"/>
              <a:t>전환은 </a:t>
            </a:r>
            <a:r>
              <a:rPr lang="en-US" altLang="ko-KR"/>
              <a:t>51.8</a:t>
            </a:r>
            <a:r>
              <a:rPr lang="ko-KR" altLang="en-US"/>
              <a:t>에서 </a:t>
            </a:r>
            <a:r>
              <a:rPr lang="en-US" altLang="ko-KR"/>
              <a:t>62.7</a:t>
            </a:r>
            <a:r>
              <a:rPr lang="ko-KR" altLang="en-US"/>
              <a:t>로 증가했습니다</a:t>
            </a:r>
            <a:r>
              <a:rPr lang="en-US" altLang="ko-KR"/>
              <a:t>. </a:t>
            </a:r>
            <a:r>
              <a:rPr lang="ko-KR" altLang="en-US"/>
              <a:t>즉 관측 기회 이후 시선을 더 자주 재배분하는 패턴이 보였습니다</a:t>
            </a:r>
            <a:r>
              <a:rPr lang="en-US" altLang="ko-KR"/>
              <a:t>. </a:t>
            </a:r>
            <a:r>
              <a:rPr lang="ko-KR" altLang="en-US"/>
              <a:t>그러나 같은 참가자의 반복 </a:t>
            </a:r>
            <a:r>
              <a:rPr lang="en-US" altLang="ko-KR"/>
              <a:t>trial</a:t>
            </a:r>
            <a:r>
              <a:rPr lang="ko-KR" altLang="en-US"/>
              <a:t>이고 구간 길이도 다르기 때문에 인과효과라고 말하지 않습니다</a:t>
            </a:r>
            <a:r>
              <a:rPr lang="en-US" altLang="ko-KR"/>
              <a:t>. </a:t>
            </a:r>
            <a:r>
              <a:rPr lang="ko-KR" altLang="en-US"/>
              <a:t>군 적용에서 중요한 것은 이런 패턴 자체를 정답으로 쓰는 것이 아니라</a:t>
            </a:r>
            <a:r>
              <a:rPr lang="en-US" altLang="ko-KR"/>
              <a:t>, </a:t>
            </a:r>
            <a:r>
              <a:rPr lang="ko-KR" altLang="en-US"/>
              <a:t>특정 훈련구간에서 조종사의 탐색전략이 어떻게 바뀌었는지를 교관에게 보여주는 것입니다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301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[01:15 | </a:t>
            </a:r>
            <a:r>
              <a:rPr lang="ko-KR" altLang="en-US"/>
              <a:t>누적 </a:t>
            </a:r>
            <a:r>
              <a:rPr lang="en-US" altLang="ko-KR"/>
              <a:t>13:50]
</a:t>
            </a:r>
            <a:r>
              <a:rPr lang="ko-KR" altLang="en-US"/>
              <a:t>군 활용일수록 데이터의 한계를 명확히 해야 합니다</a:t>
            </a:r>
            <a:r>
              <a:rPr lang="en-US" altLang="ko-KR"/>
              <a:t>. </a:t>
            </a:r>
            <a:r>
              <a:rPr lang="ko-KR" altLang="en-US"/>
              <a:t>현재 시스템은 기록 완전성</a:t>
            </a:r>
            <a:r>
              <a:rPr lang="en-US" altLang="ko-KR"/>
              <a:t>, </a:t>
            </a:r>
            <a:r>
              <a:rPr lang="ko-KR" altLang="en-US"/>
              <a:t>시선 영역</a:t>
            </a:r>
            <a:r>
              <a:rPr lang="en-US" altLang="ko-KR"/>
              <a:t>, 20 pixel </a:t>
            </a:r>
            <a:r>
              <a:rPr lang="ko-KR" altLang="en-US"/>
              <a:t>이후 입력변화</a:t>
            </a:r>
            <a:r>
              <a:rPr lang="en-US" altLang="ko-KR"/>
              <a:t>, scan pattern</a:t>
            </a:r>
            <a:r>
              <a:rPr lang="ko-KR" altLang="en-US"/>
              <a:t>과 원본 추적성을 보여줄 수 있습니다</a:t>
            </a:r>
            <a:r>
              <a:rPr lang="en-US" altLang="ko-KR"/>
              <a:t>. </a:t>
            </a:r>
            <a:r>
              <a:rPr lang="ko-KR" altLang="en-US"/>
              <a:t>반면 실제 인지 순간</a:t>
            </a:r>
            <a:r>
              <a:rPr lang="en-US" altLang="ko-KR"/>
              <a:t>, </a:t>
            </a:r>
            <a:r>
              <a:rPr lang="ko-KR" altLang="en-US"/>
              <a:t>조작 의도</a:t>
            </a:r>
            <a:r>
              <a:rPr lang="en-US" altLang="ko-KR"/>
              <a:t>, </a:t>
            </a:r>
            <a:r>
              <a:rPr lang="ko-KR" altLang="en-US"/>
              <a:t>사람의 전체 조종능력</a:t>
            </a:r>
            <a:r>
              <a:rPr lang="en-US" altLang="ko-KR"/>
              <a:t>, </a:t>
            </a:r>
            <a:r>
              <a:rPr lang="ko-KR" altLang="en-US"/>
              <a:t>숙련 집단 차이는 직접 측정하지 못했습니다</a:t>
            </a:r>
            <a:r>
              <a:rPr lang="en-US" altLang="ko-KR"/>
              <a:t>. </a:t>
            </a:r>
            <a:r>
              <a:rPr lang="ko-KR" altLang="en-US"/>
              <a:t>그리고 </a:t>
            </a:r>
            <a:r>
              <a:rPr lang="en-US" altLang="ko-KR"/>
              <a:t>X-Plane</a:t>
            </a:r>
            <a:r>
              <a:rPr lang="ko-KR" altLang="en-US"/>
              <a:t>에서 작동했다고 마린온 시뮬레이터에 바로 적용되는 것도 아닙니다</a:t>
            </a:r>
            <a:r>
              <a:rPr lang="en-US" altLang="ko-KR"/>
              <a:t>. </a:t>
            </a:r>
            <a:r>
              <a:rPr lang="ko-KR" altLang="en-US"/>
              <a:t>따라서 자동 산출값은 교관에게 질문과 근거를 제공하고</a:t>
            </a:r>
            <a:r>
              <a:rPr lang="en-US" altLang="ko-KR"/>
              <a:t>, </a:t>
            </a:r>
            <a:r>
              <a:rPr lang="ko-KR" altLang="en-US"/>
              <a:t>최종 평가는 교관이 수행해야 합니다</a:t>
            </a:r>
            <a:r>
              <a:rPr lang="en-US" altLang="ko-KR"/>
              <a:t>. </a:t>
            </a:r>
            <a:r>
              <a:rPr lang="ko-KR" altLang="en-US"/>
              <a:t>이 원칙이 있어야 데이터가 처벌이나 잘못된 서열화에 쓰이는 것을 막을 수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285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[01:25 | </a:t>
            </a:r>
            <a:r>
              <a:rPr lang="ko-KR" altLang="en-US"/>
              <a:t>누적 </a:t>
            </a:r>
            <a:r>
              <a:rPr lang="en-US" altLang="ko-KR"/>
              <a:t>15:15]
</a:t>
            </a:r>
            <a:r>
              <a:rPr lang="ko-KR" altLang="en-US"/>
              <a:t>군 적용에서 </a:t>
            </a:r>
            <a:r>
              <a:rPr lang="en-US" altLang="ko-KR"/>
              <a:t>X-Plane</a:t>
            </a:r>
            <a:r>
              <a:rPr lang="ko-KR" altLang="en-US"/>
              <a:t>과 </a:t>
            </a:r>
            <a:r>
              <a:rPr lang="en-US" altLang="ko-KR"/>
              <a:t>FlyWithLua</a:t>
            </a:r>
            <a:r>
              <a:rPr lang="ko-KR" altLang="en-US"/>
              <a:t>를 부대에 반입하는 것이 목적이 아닙니다</a:t>
            </a:r>
            <a:r>
              <a:rPr lang="en-US" altLang="ko-KR"/>
              <a:t>. </a:t>
            </a:r>
            <a:r>
              <a:rPr lang="ko-KR" altLang="en-US"/>
              <a:t>인가된 시뮬레이터가 항공기 상태</a:t>
            </a:r>
            <a:r>
              <a:rPr lang="en-US" altLang="ko-KR"/>
              <a:t>, </a:t>
            </a:r>
            <a:r>
              <a:rPr lang="ko-KR" altLang="en-US"/>
              <a:t>조종 입력</a:t>
            </a:r>
            <a:r>
              <a:rPr lang="en-US" altLang="ko-KR"/>
              <a:t>, </a:t>
            </a:r>
            <a:r>
              <a:rPr lang="ko-KR" altLang="en-US"/>
              <a:t>상황 </a:t>
            </a:r>
            <a:r>
              <a:rPr lang="en-US" altLang="ko-KR"/>
              <a:t>event</a:t>
            </a:r>
            <a:r>
              <a:rPr lang="ko-KR" altLang="en-US"/>
              <a:t>를 내보낼 수 있다면 기종별 </a:t>
            </a:r>
            <a:r>
              <a:rPr lang="en-US" altLang="ko-KR"/>
              <a:t>adapter</a:t>
            </a:r>
            <a:r>
              <a:rPr lang="ko-KR" altLang="en-US"/>
              <a:t>가 이를 공통 </a:t>
            </a:r>
            <a:r>
              <a:rPr lang="en-US" altLang="ko-KR"/>
              <a:t>data contract</a:t>
            </a:r>
            <a:r>
              <a:rPr lang="ko-KR" altLang="en-US"/>
              <a:t>로 변환합니다</a:t>
            </a:r>
            <a:r>
              <a:rPr lang="en-US" altLang="ko-KR"/>
              <a:t>. </a:t>
            </a:r>
            <a:r>
              <a:rPr lang="ko-KR" altLang="en-US"/>
              <a:t>이후 보안구역 내부 분석 노드에서 시간동기</a:t>
            </a:r>
            <a:r>
              <a:rPr lang="en-US" altLang="ko-KR"/>
              <a:t>, AOI</a:t>
            </a:r>
            <a:r>
              <a:rPr lang="ko-KR" altLang="en-US"/>
              <a:t>와 반응 분석을 수행하고 교관 화면에 제공합니다</a:t>
            </a:r>
            <a:r>
              <a:rPr lang="en-US" altLang="ko-KR"/>
              <a:t>. </a:t>
            </a:r>
            <a:r>
              <a:rPr lang="ko-KR" altLang="en-US"/>
              <a:t>유지되는 것은 </a:t>
            </a:r>
            <a:r>
              <a:rPr lang="en-US" altLang="ko-KR"/>
              <a:t>event timeline, </a:t>
            </a:r>
            <a:r>
              <a:rPr lang="ko-KR" altLang="en-US"/>
              <a:t>원본 감사성</a:t>
            </a:r>
            <a:r>
              <a:rPr lang="en-US" altLang="ko-KR"/>
              <a:t>, </a:t>
            </a:r>
            <a:r>
              <a:rPr lang="ko-KR" altLang="en-US"/>
              <a:t>품질 </a:t>
            </a:r>
            <a:r>
              <a:rPr lang="en-US" altLang="ko-KR"/>
              <a:t>flag</a:t>
            </a:r>
            <a:r>
              <a:rPr lang="ko-KR" altLang="en-US"/>
              <a:t>와 기준모델 비교 구조입니다</a:t>
            </a:r>
            <a:r>
              <a:rPr lang="en-US" altLang="ko-KR"/>
              <a:t>. </a:t>
            </a:r>
            <a:r>
              <a:rPr lang="ko-KR" altLang="en-US"/>
              <a:t>바뀌어야 하는 것은 </a:t>
            </a:r>
            <a:r>
              <a:rPr lang="en-US" altLang="ko-KR"/>
              <a:t>Cessna </a:t>
            </a:r>
            <a:r>
              <a:rPr lang="ko-KR" altLang="en-US"/>
              <a:t>계기 </a:t>
            </a:r>
            <a:r>
              <a:rPr lang="en-US" altLang="ko-KR"/>
              <a:t>AOI, </a:t>
            </a:r>
            <a:r>
              <a:rPr lang="ko-KR" altLang="en-US"/>
              <a:t>고정익 조종 </a:t>
            </a:r>
            <a:r>
              <a:rPr lang="en-US" altLang="ko-KR"/>
              <a:t>threshold, </a:t>
            </a:r>
            <a:r>
              <a:rPr lang="ko-KR" altLang="en-US"/>
              <a:t>침입기 </a:t>
            </a:r>
            <a:r>
              <a:rPr lang="en-US" altLang="ko-KR"/>
              <a:t>geometry</a:t>
            </a:r>
            <a:r>
              <a:rPr lang="ko-KR" altLang="en-US"/>
              <a:t>와 임무 시나리오입니다</a:t>
            </a:r>
            <a:r>
              <a:rPr lang="en-US" altLang="ko-KR"/>
              <a:t>. </a:t>
            </a:r>
            <a:r>
              <a:rPr lang="ko-KR" altLang="en-US"/>
              <a:t>따라서 첫 단계는 코드를 설치하는 것이 아니라 시뮬레이터 </a:t>
            </a:r>
            <a:r>
              <a:rPr lang="en-US" altLang="ko-KR"/>
              <a:t>ICD</a:t>
            </a:r>
            <a:r>
              <a:rPr lang="ko-KR" altLang="en-US"/>
              <a:t>와 로그 </a:t>
            </a:r>
            <a:r>
              <a:rPr lang="en-US" altLang="ko-KR"/>
              <a:t>export </a:t>
            </a:r>
            <a:r>
              <a:rPr lang="ko-KR" altLang="en-US"/>
              <a:t>범위를 확인하는 것입니다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227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[01:25 | </a:t>
            </a:r>
            <a:r>
              <a:rPr lang="ko-KR" altLang="en-US"/>
              <a:t>누적 </a:t>
            </a:r>
            <a:r>
              <a:rPr lang="en-US" altLang="ko-KR"/>
              <a:t>16:40]
</a:t>
            </a:r>
            <a:r>
              <a:rPr lang="ko-KR" altLang="en-US"/>
              <a:t>적용 후보는 네 가지입니다</a:t>
            </a:r>
            <a:r>
              <a:rPr lang="en-US" altLang="ko-KR"/>
              <a:t>. </a:t>
            </a:r>
            <a:r>
              <a:rPr lang="ko-KR" altLang="en-US"/>
              <a:t>함상 이착함이나 저시정 접근에서는 외부 기준점과 계기 </a:t>
            </a:r>
            <a:r>
              <a:rPr lang="en-US" altLang="ko-KR"/>
              <a:t>scan </a:t>
            </a:r>
            <a:r>
              <a:rPr lang="ko-KR" altLang="en-US"/>
              <a:t>전환을 볼 수 있습니다</a:t>
            </a:r>
            <a:r>
              <a:rPr lang="en-US" altLang="ko-KR"/>
              <a:t>. </a:t>
            </a:r>
            <a:r>
              <a:rPr lang="ko-KR" altLang="en-US"/>
              <a:t>해상</a:t>
            </a:r>
            <a:r>
              <a:rPr lang="en-US" altLang="ko-KR"/>
              <a:t>·</a:t>
            </a:r>
            <a:r>
              <a:rPr lang="ko-KR" altLang="en-US"/>
              <a:t>저고도 공중기동에서는 고도와 속도를 유지하면서 장애물과 교통을 얼마나 적절히 탐색했는지 분석할 수 있습니다</a:t>
            </a:r>
            <a:r>
              <a:rPr lang="en-US" altLang="ko-KR"/>
              <a:t>. </a:t>
            </a:r>
            <a:r>
              <a:rPr lang="ko-KR" altLang="en-US"/>
              <a:t>야간</a:t>
            </a:r>
            <a:r>
              <a:rPr lang="en-US" altLang="ko-KR"/>
              <a:t>·</a:t>
            </a:r>
            <a:r>
              <a:rPr lang="ko-KR" altLang="en-US"/>
              <a:t>악천후</a:t>
            </a:r>
            <a:r>
              <a:rPr lang="en-US" altLang="ko-KR"/>
              <a:t>·</a:t>
            </a:r>
            <a:r>
              <a:rPr lang="ko-KR" altLang="en-US"/>
              <a:t>비상절차에서는 경고</a:t>
            </a:r>
            <a:r>
              <a:rPr lang="en-US" altLang="ko-KR"/>
              <a:t>, </a:t>
            </a:r>
            <a:r>
              <a:rPr lang="ko-KR" altLang="en-US"/>
              <a:t>체크리스트 확인</a:t>
            </a:r>
            <a:r>
              <a:rPr lang="en-US" altLang="ko-KR"/>
              <a:t>, </a:t>
            </a:r>
            <a:r>
              <a:rPr lang="ko-KR" altLang="en-US"/>
              <a:t>조작의 순서와 특정 계기 고착을 볼 수 있습니다</a:t>
            </a:r>
            <a:r>
              <a:rPr lang="en-US" altLang="ko-KR"/>
              <a:t>. </a:t>
            </a:r>
            <a:r>
              <a:rPr lang="ko-KR" altLang="en-US"/>
              <a:t>공중강습과 신속대응에서는 임무정보</a:t>
            </a:r>
            <a:r>
              <a:rPr lang="en-US" altLang="ko-KR"/>
              <a:t>, </a:t>
            </a:r>
            <a:r>
              <a:rPr lang="ko-KR" altLang="en-US"/>
              <a:t>외부위협</a:t>
            </a:r>
            <a:r>
              <a:rPr lang="en-US" altLang="ko-KR"/>
              <a:t>, </a:t>
            </a:r>
            <a:r>
              <a:rPr lang="ko-KR" altLang="en-US"/>
              <a:t>비행경로 사이의 주의배분과 </a:t>
            </a:r>
            <a:r>
              <a:rPr lang="en-US" altLang="ko-KR"/>
              <a:t>crew coordination</a:t>
            </a:r>
            <a:r>
              <a:rPr lang="ko-KR" altLang="en-US"/>
              <a:t>을 후보로 둘 수 있습니다</a:t>
            </a:r>
            <a:r>
              <a:rPr lang="en-US" altLang="ko-KR"/>
              <a:t>. </a:t>
            </a:r>
            <a:r>
              <a:rPr lang="ko-KR" altLang="en-US"/>
              <a:t>단</a:t>
            </a:r>
            <a:r>
              <a:rPr lang="en-US" altLang="ko-KR"/>
              <a:t>, </a:t>
            </a:r>
            <a:r>
              <a:rPr lang="ko-KR" altLang="en-US"/>
              <a:t>이 네 가지는 현재 구현 완료가 아니라 기종과 </a:t>
            </a:r>
            <a:r>
              <a:rPr lang="en-US" altLang="ko-KR"/>
              <a:t>SOP</a:t>
            </a:r>
            <a:r>
              <a:rPr lang="ko-KR" altLang="en-US"/>
              <a:t>에 맞게 새로 검증해야 할 적용 시나리오입니다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411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[01:15 | </a:t>
            </a:r>
            <a:r>
              <a:rPr lang="ko-KR" altLang="en-US"/>
              <a:t>누적 </a:t>
            </a:r>
            <a:r>
              <a:rPr lang="en-US" altLang="ko-KR"/>
              <a:t>17:55]
</a:t>
            </a:r>
            <a:r>
              <a:rPr lang="ko-KR" altLang="en-US"/>
              <a:t>최종 산출물은 한 개의 </a:t>
            </a:r>
            <a:r>
              <a:rPr lang="en-US" altLang="ko-KR"/>
              <a:t>AI </a:t>
            </a:r>
            <a:r>
              <a:rPr lang="ko-KR" altLang="en-US"/>
              <a:t>점수가 아니라 설명 가능한 디브리핑 화면이어야 합니다</a:t>
            </a:r>
            <a:r>
              <a:rPr lang="en-US" altLang="ko-KR"/>
              <a:t>. </a:t>
            </a:r>
            <a:r>
              <a:rPr lang="ko-KR" altLang="en-US"/>
              <a:t>상단에는 반응시간</a:t>
            </a:r>
            <a:r>
              <a:rPr lang="en-US" altLang="ko-KR"/>
              <a:t>, </a:t>
            </a:r>
            <a:r>
              <a:rPr lang="ko-KR" altLang="en-US"/>
              <a:t>외부 </a:t>
            </a:r>
            <a:r>
              <a:rPr lang="en-US" altLang="ko-KR"/>
              <a:t>attention, </a:t>
            </a:r>
            <a:r>
              <a:rPr lang="ko-KR" altLang="en-US"/>
              <a:t>전환빈도와 품질 </a:t>
            </a:r>
            <a:r>
              <a:rPr lang="en-US" altLang="ko-KR"/>
              <a:t>flag</a:t>
            </a:r>
            <a:r>
              <a:rPr lang="ko-KR" altLang="en-US"/>
              <a:t>를 보여주고</a:t>
            </a:r>
            <a:r>
              <a:rPr lang="en-US" altLang="ko-KR"/>
              <a:t>, </a:t>
            </a:r>
            <a:r>
              <a:rPr lang="ko-KR" altLang="en-US"/>
              <a:t>가운데에는 경고부터 계기확인</a:t>
            </a:r>
            <a:r>
              <a:rPr lang="en-US" altLang="ko-KR"/>
              <a:t>, </a:t>
            </a:r>
            <a:r>
              <a:rPr lang="ko-KR" altLang="en-US"/>
              <a:t>외부탐색</a:t>
            </a:r>
            <a:r>
              <a:rPr lang="en-US" altLang="ko-KR"/>
              <a:t>, </a:t>
            </a:r>
            <a:r>
              <a:rPr lang="ko-KR" altLang="en-US"/>
              <a:t>조작</a:t>
            </a:r>
            <a:r>
              <a:rPr lang="en-US" altLang="ko-KR"/>
              <a:t>, </a:t>
            </a:r>
            <a:r>
              <a:rPr lang="ko-KR" altLang="en-US"/>
              <a:t>안정화까지 </a:t>
            </a:r>
            <a:r>
              <a:rPr lang="en-US" altLang="ko-KR"/>
              <a:t>event timeline</a:t>
            </a:r>
            <a:r>
              <a:rPr lang="ko-KR" altLang="en-US"/>
              <a:t>을 보여줍니다</a:t>
            </a:r>
            <a:r>
              <a:rPr lang="en-US" altLang="ko-KR"/>
              <a:t>. </a:t>
            </a:r>
            <a:r>
              <a:rPr lang="ko-KR" altLang="en-US"/>
              <a:t>하단에는 교관이 확인할 질문과 반복훈련의 변화를 제시합니다</a:t>
            </a:r>
            <a:r>
              <a:rPr lang="en-US" altLang="ko-KR"/>
              <a:t>. </a:t>
            </a:r>
            <a:r>
              <a:rPr lang="ko-KR" altLang="en-US"/>
              <a:t>특히 </a:t>
            </a:r>
            <a:r>
              <a:rPr lang="en-US" altLang="ko-KR"/>
              <a:t>active control </a:t>
            </a:r>
            <a:r>
              <a:rPr lang="ko-KR" altLang="en-US"/>
              <a:t>같은 </a:t>
            </a:r>
            <a:r>
              <a:rPr lang="en-US" altLang="ko-KR"/>
              <a:t>flag</a:t>
            </a:r>
            <a:r>
              <a:rPr lang="ko-KR" altLang="en-US"/>
              <a:t>를 함께 보여야 짧은 반응시간을 무조건 좋은 값으로 오해하지 않습니다</a:t>
            </a:r>
            <a:r>
              <a:rPr lang="en-US" altLang="ko-KR"/>
              <a:t>. </a:t>
            </a:r>
            <a:r>
              <a:rPr lang="ko-KR" altLang="en-US"/>
              <a:t>데이터는 교관의 질문을 더 정밀하게 하고</a:t>
            </a:r>
            <a:r>
              <a:rPr lang="en-US" altLang="ko-KR"/>
              <a:t>, </a:t>
            </a:r>
            <a:r>
              <a:rPr lang="ko-KR" altLang="en-US"/>
              <a:t>동일 조종사의 재훈련 전후 변화를 추적하는 데 우선 활용하는 것이 안전합니다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390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[01:05 | </a:t>
            </a:r>
            <a:r>
              <a:rPr lang="ko-KR" altLang="en-US"/>
              <a:t>누적 </a:t>
            </a:r>
            <a:r>
              <a:rPr lang="en-US" altLang="ko-KR"/>
              <a:t>19:00]
AI</a:t>
            </a:r>
            <a:r>
              <a:rPr lang="ko-KR" altLang="en-US"/>
              <a:t>를 먼저 만들고 데이터를 끼워 맞추면 안 됩니다</a:t>
            </a:r>
            <a:r>
              <a:rPr lang="en-US" altLang="ko-KR"/>
              <a:t>. 0</a:t>
            </a:r>
            <a:r>
              <a:rPr lang="ko-KR" altLang="en-US"/>
              <a:t>단계는 동기화 데이터와 품질관리입니다</a:t>
            </a:r>
            <a:r>
              <a:rPr lang="en-US" altLang="ko-KR"/>
              <a:t>. 1</a:t>
            </a:r>
            <a:r>
              <a:rPr lang="ko-KR" altLang="en-US"/>
              <a:t>단계는 </a:t>
            </a:r>
            <a:r>
              <a:rPr lang="en-US" altLang="ko-KR"/>
              <a:t>SOP</a:t>
            </a:r>
            <a:r>
              <a:rPr lang="ko-KR" altLang="en-US"/>
              <a:t>와 교관 </a:t>
            </a:r>
            <a:r>
              <a:rPr lang="en-US" altLang="ko-KR"/>
              <a:t>rubric</a:t>
            </a:r>
            <a:r>
              <a:rPr lang="ko-KR" altLang="en-US"/>
              <a:t>을 규칙모델로 표현하는 것입니다</a:t>
            </a:r>
            <a:r>
              <a:rPr lang="en-US" altLang="ko-KR"/>
              <a:t>. 2</a:t>
            </a:r>
            <a:r>
              <a:rPr lang="ko-KR" altLang="en-US"/>
              <a:t>단계에서 충분한 숙련 조종사 데이터를 조건별 기준모델로 만들 수 있습니다</a:t>
            </a:r>
            <a:r>
              <a:rPr lang="en-US" altLang="ko-KR"/>
              <a:t>. </a:t>
            </a:r>
            <a:r>
              <a:rPr lang="ko-KR" altLang="en-US"/>
              <a:t>그 다음에야 개인별 반복 패턴과 이상 편차를 찾아 다음 훈련을 추천하는 </a:t>
            </a:r>
            <a:r>
              <a:rPr lang="en-US" altLang="ko-KR"/>
              <a:t>AI</a:t>
            </a:r>
            <a:r>
              <a:rPr lang="ko-KR" altLang="en-US"/>
              <a:t>를 검토할 수 있습니다</a:t>
            </a:r>
            <a:r>
              <a:rPr lang="en-US" altLang="ko-KR"/>
              <a:t>. </a:t>
            </a:r>
            <a:r>
              <a:rPr lang="ko-KR" altLang="en-US"/>
              <a:t>각 단계마다 교관 검증과 보안</a:t>
            </a:r>
            <a:r>
              <a:rPr lang="en-US" altLang="ko-KR"/>
              <a:t>·</a:t>
            </a:r>
            <a:r>
              <a:rPr lang="ko-KR" altLang="en-US"/>
              <a:t>윤리 </a:t>
            </a:r>
            <a:r>
              <a:rPr lang="en-US" altLang="ko-KR"/>
              <a:t>gate</a:t>
            </a:r>
            <a:r>
              <a:rPr lang="ko-KR" altLang="en-US"/>
              <a:t>를 통과해야 하며</a:t>
            </a:r>
            <a:r>
              <a:rPr lang="en-US" altLang="ko-KR"/>
              <a:t>, </a:t>
            </a:r>
            <a:r>
              <a:rPr lang="ko-KR" altLang="en-US"/>
              <a:t>현재 연구는 </a:t>
            </a:r>
            <a:r>
              <a:rPr lang="en-US" altLang="ko-KR"/>
              <a:t>0</a:t>
            </a:r>
            <a:r>
              <a:rPr lang="ko-KR" altLang="en-US"/>
              <a:t>단계를 구현하고 </a:t>
            </a:r>
            <a:r>
              <a:rPr lang="en-US" altLang="ko-KR"/>
              <a:t>1</a:t>
            </a:r>
            <a:r>
              <a:rPr lang="ko-KR" altLang="en-US"/>
              <a:t>단계로 넘어가기 위한 기술 근거를 마련한 수준입니다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75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[00:55 | </a:t>
            </a:r>
            <a:r>
              <a:rPr lang="ko-KR" altLang="en-US"/>
              <a:t>본 발표 약 </a:t>
            </a:r>
            <a:r>
              <a:rPr lang="en-US" altLang="ko-KR"/>
              <a:t>19:55]
</a:t>
            </a:r>
            <a:r>
              <a:rPr lang="ko-KR" altLang="en-US"/>
              <a:t>처음부터 대규모 </a:t>
            </a:r>
            <a:r>
              <a:rPr lang="en-US" altLang="ko-KR"/>
              <a:t>AI </a:t>
            </a:r>
            <a:r>
              <a:rPr lang="ko-KR" altLang="en-US"/>
              <a:t>사업으로 시작할 필요는 없습니다</a:t>
            </a:r>
            <a:r>
              <a:rPr lang="en-US" altLang="ko-KR"/>
              <a:t>. 12</a:t>
            </a:r>
            <a:r>
              <a:rPr lang="ko-KR" altLang="en-US"/>
              <a:t>주 기술실증으로 충분합니다</a:t>
            </a:r>
            <a:r>
              <a:rPr lang="en-US" altLang="ko-KR"/>
              <a:t>. </a:t>
            </a:r>
            <a:r>
              <a:rPr lang="ko-KR" altLang="en-US"/>
              <a:t>먼저 시뮬레이터가 어떤 데이터를 어떤 시간기준으로 내보낼 수 있는지 확인하고</a:t>
            </a:r>
            <a:r>
              <a:rPr lang="en-US" altLang="ko-KR"/>
              <a:t>, </a:t>
            </a:r>
            <a:r>
              <a:rPr lang="ko-KR" altLang="en-US"/>
              <a:t>공통 </a:t>
            </a:r>
            <a:r>
              <a:rPr lang="en-US" altLang="ko-KR"/>
              <a:t>adapter</a:t>
            </a:r>
            <a:r>
              <a:rPr lang="ko-KR" altLang="en-US"/>
              <a:t>와 폐쇄망 </a:t>
            </a:r>
            <a:r>
              <a:rPr lang="en-US" altLang="ko-KR"/>
              <a:t>logger</a:t>
            </a:r>
            <a:r>
              <a:rPr lang="ko-KR" altLang="en-US"/>
              <a:t>를 만듭니다</a:t>
            </a:r>
            <a:r>
              <a:rPr lang="en-US" altLang="ko-KR"/>
              <a:t>. </a:t>
            </a:r>
            <a:r>
              <a:rPr lang="ko-KR" altLang="en-US"/>
              <a:t>다음으로 교관과 함께 임무별 </a:t>
            </a:r>
            <a:r>
              <a:rPr lang="en-US" altLang="ko-KR"/>
              <a:t>AOI, event</a:t>
            </a:r>
            <a:r>
              <a:rPr lang="ko-KR" altLang="en-US"/>
              <a:t>와 </a:t>
            </a:r>
            <a:r>
              <a:rPr lang="en-US" altLang="ko-KR"/>
              <a:t>SOP rubric</a:t>
            </a:r>
            <a:r>
              <a:rPr lang="ko-KR" altLang="en-US"/>
              <a:t>을 설계한 뒤 소규모로 기록 완전성과 재현성</a:t>
            </a:r>
            <a:r>
              <a:rPr lang="en-US" altLang="ko-KR"/>
              <a:t>, </a:t>
            </a:r>
            <a:r>
              <a:rPr lang="ko-KR" altLang="en-US"/>
              <a:t>디브리핑 유용성을 검증합니다</a:t>
            </a:r>
            <a:r>
              <a:rPr lang="en-US" altLang="ko-KR"/>
              <a:t>. </a:t>
            </a:r>
            <a:r>
              <a:rPr lang="ko-KR" altLang="en-US"/>
              <a:t>워크숍 이후 필요한 것은 </a:t>
            </a:r>
            <a:r>
              <a:rPr lang="en-US" altLang="ko-KR"/>
              <a:t>interface </a:t>
            </a:r>
            <a:r>
              <a:rPr lang="ko-KR" altLang="en-US"/>
              <a:t>확인</a:t>
            </a:r>
            <a:r>
              <a:rPr lang="en-US" altLang="ko-KR"/>
              <a:t>, </a:t>
            </a:r>
            <a:r>
              <a:rPr lang="ko-KR" altLang="en-US"/>
              <a:t>공동설계 인원 지정</a:t>
            </a:r>
            <a:r>
              <a:rPr lang="en-US" altLang="ko-KR"/>
              <a:t>, </a:t>
            </a:r>
            <a:r>
              <a:rPr lang="ko-KR" altLang="en-US"/>
              <a:t>그리고 비식별</a:t>
            </a:r>
            <a:r>
              <a:rPr lang="en-US" altLang="ko-KR"/>
              <a:t>·</a:t>
            </a:r>
            <a:r>
              <a:rPr lang="ko-KR" altLang="en-US"/>
              <a:t>비징계</a:t>
            </a:r>
            <a:r>
              <a:rPr lang="en-US" altLang="ko-KR"/>
              <a:t>·</a:t>
            </a:r>
            <a:r>
              <a:rPr lang="ko-KR" altLang="en-US"/>
              <a:t>연구활용 기준 합의입니다</a:t>
            </a:r>
            <a:r>
              <a:rPr lang="en-US" altLang="ko-KR"/>
              <a:t>. </a:t>
            </a:r>
            <a:r>
              <a:rPr lang="ko-KR" altLang="en-US"/>
              <a:t>결론적으로 조종능력 향상은 </a:t>
            </a:r>
            <a:r>
              <a:rPr lang="en-US" altLang="ko-KR"/>
              <a:t>AI</a:t>
            </a:r>
            <a:r>
              <a:rPr lang="ko-KR" altLang="en-US"/>
              <a:t>가 매긴 점수에서 시작되는 것이 아니라</a:t>
            </a:r>
            <a:r>
              <a:rPr lang="en-US" altLang="ko-KR"/>
              <a:t>, </a:t>
            </a:r>
            <a:r>
              <a:rPr lang="ko-KR" altLang="en-US"/>
              <a:t>반복 가능한 데이터와 교관의 설명에서 시작됩니다</a:t>
            </a:r>
            <a:r>
              <a:rPr lang="en-US" altLang="ko-KR"/>
              <a:t>. </a:t>
            </a:r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881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부록</a:t>
            </a:r>
            <a:r>
              <a:rPr lang="en-US" altLang="ko-KR"/>
              <a:t>] </a:t>
            </a:r>
            <a:r>
              <a:rPr lang="ko-KR" altLang="en-US"/>
              <a:t>질의응답 시 용어 정의를 설명하는 슬라이드입니다</a:t>
            </a:r>
            <a:r>
              <a:rPr lang="en-US" altLang="ko-KR"/>
              <a:t>. </a:t>
            </a:r>
            <a:r>
              <a:rPr lang="ko-KR" altLang="en-US"/>
              <a:t>핵심은 </a:t>
            </a:r>
            <a:r>
              <a:rPr lang="en-US" altLang="ko-KR"/>
              <a:t>visual opportunity</a:t>
            </a:r>
            <a:r>
              <a:rPr lang="ko-KR" altLang="en-US"/>
              <a:t>가 </a:t>
            </a:r>
            <a:r>
              <a:rPr lang="en-US" altLang="ko-KR"/>
              <a:t>recognition</a:t>
            </a:r>
            <a:r>
              <a:rPr lang="ko-KR" altLang="en-US"/>
              <a:t>이 아니고</a:t>
            </a:r>
            <a:r>
              <a:rPr lang="en-US" altLang="ko-KR"/>
              <a:t>, 200 ms bin</a:t>
            </a:r>
            <a:r>
              <a:rPr lang="ko-KR" altLang="en-US"/>
              <a:t>이 </a:t>
            </a:r>
            <a:r>
              <a:rPr lang="en-US" altLang="ko-KR"/>
              <a:t>fixation</a:t>
            </a:r>
            <a:r>
              <a:rPr lang="ko-KR" altLang="en-US"/>
              <a:t>이 아니라는 점입니다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086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부록</a:t>
            </a:r>
            <a:r>
              <a:rPr lang="en-US" altLang="ko-KR"/>
              <a:t>] </a:t>
            </a:r>
            <a:r>
              <a:rPr lang="ko-KR" altLang="en-US"/>
              <a:t>기술보다 먼저 합의해야 할 운용원칙입니다</a:t>
            </a:r>
            <a:r>
              <a:rPr lang="en-US" altLang="ko-KR"/>
              <a:t>. </a:t>
            </a:r>
            <a:r>
              <a:rPr lang="ko-KR" altLang="en-US"/>
              <a:t>초기 도입은 개인 발전과 교관 보조 목적에 한정하고</a:t>
            </a:r>
            <a:r>
              <a:rPr lang="en-US" altLang="ko-KR"/>
              <a:t>, </a:t>
            </a:r>
            <a:r>
              <a:rPr lang="ko-KR" altLang="en-US"/>
              <a:t>연구</a:t>
            </a:r>
            <a:r>
              <a:rPr lang="en-US" altLang="ko-KR"/>
              <a:t>·</a:t>
            </a:r>
            <a:r>
              <a:rPr lang="ko-KR" altLang="en-US"/>
              <a:t>출판은 별도의 </a:t>
            </a:r>
            <a:r>
              <a:rPr lang="en-US" altLang="ko-KR"/>
              <a:t>IRB</a:t>
            </a:r>
            <a:r>
              <a:rPr lang="ko-KR" altLang="en-US"/>
              <a:t>와 보안심의를 거쳐야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144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부록</a:t>
            </a:r>
            <a:r>
              <a:rPr lang="en-US" altLang="ko-KR"/>
              <a:t>] </a:t>
            </a:r>
            <a:r>
              <a:rPr lang="ko-KR" altLang="en-US"/>
              <a:t>발표에서 사용한 연구</a:t>
            </a:r>
            <a:r>
              <a:rPr lang="en-US" altLang="ko-KR"/>
              <a:t>·</a:t>
            </a:r>
            <a:r>
              <a:rPr lang="ko-KR" altLang="en-US"/>
              <a:t>공식 공개자료입니다</a:t>
            </a:r>
            <a:r>
              <a:rPr lang="en-US" altLang="ko-KR"/>
              <a:t>. </a:t>
            </a:r>
            <a:r>
              <a:rPr lang="ko-KR" altLang="en-US"/>
              <a:t>군 적용 시나리오와 일정은 공개자료에 적힌 완료 사실이 아니라 발표자의 후속 실증 제안임을 구분합니다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642B3-F439-49AB-8E3F-5C0716CDE6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4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3F51E-AE38-FF9D-1A33-84C091701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93333F-DDD6-38B9-8D01-F154C57C1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BF9876-79B1-2B05-397A-D3EED255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EE754F-35C6-DA10-EC0E-9B2A2F9F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D1AF07-E9A9-6ECE-51FC-A49B4C1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763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D41B0-0C92-E6A8-5251-55A64F66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F55DB3-5AF7-754F-F469-EF25D6B89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A7E04-E602-74FA-657D-06F7D06D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56D33E-262D-B2A3-5BFC-CC3969B1E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1578B8-EC54-60BB-D585-B869F1FB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32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AD1BC-B8A1-0588-60A4-122E5D044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5B6CD4-D83E-F344-D255-9C227D591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F95F56-09F4-8664-97B6-A3BC110A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32E934-0738-94A8-2900-15D2E988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8C9B71-26D8-3224-41E0-62BDF2A6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41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EA868-7E60-98A4-5C51-BC50CDD0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893F90-B1B4-93DD-5A54-B6088F9E4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E5BC4E-7478-DD27-95D4-43D9F4828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0EAE07-8A86-78D7-AD7E-721E13AB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C97740-F3AA-59A4-F60D-9F5448EE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6ED83F-7411-9AB5-D264-EFB60431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4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F316B-4F47-BE48-109B-18F010A4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158E98-A81D-9460-4D65-A1A7EFC47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5FEBE4-A292-A3C2-7818-57132F966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08D4ED-403D-6426-6423-30F1046EF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3E4CC8-3F99-2E3F-DBDA-9722B9A864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41E5671-C0BA-0434-FFC2-38F5B716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936EA0-256B-9621-F576-C644A5488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CF3D6D-774D-2785-8D37-87061429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9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54EAC-D17C-B6DD-DE35-13D073A8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2DB5F7-3D62-A06F-3DA9-B4A3EB36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41530E-CBA3-2479-7783-D64E0A8B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3404F6-B631-8E07-5E89-60BF2409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3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9F0C3-E3D6-03EE-F2CF-FE54F6F3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29E18B-7764-E025-51D7-14F94159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63E7E1-02CE-CE3B-C684-BFA7918C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54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7AFAE-F126-375B-B24B-0845CE1E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058CF0-3B8E-874F-3BF4-3A0B387EC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EF2E1A-B52D-59B6-20BB-E2686F013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3B58CD-CEA8-D10A-696E-1DDA36BB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7AF91-7AAE-1AF1-536A-F297E974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F932DA-E8CB-669F-2EDF-24809028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255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6BC81-215E-69A5-1B13-FF4CA8E42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98CF38-681A-2AE5-0867-A26418497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A8ABB0-F409-3550-43D4-F5FBD9C11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C3BE2A-1585-CA22-7DD3-6A491701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B35D73-D03D-5ABA-F029-3071CB4A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E8C156-5F04-5F4F-C0CA-9FA59540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84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8761F-A81C-14DA-5A9A-97577F9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62E0A1-A43D-4EBC-849F-34AFC4579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B2509B-DFBE-EEF4-7798-5CA9F34B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DD78A7-93DF-2706-5275-EBF9B5E6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5D5D5-9DE7-B568-A10D-9A78B0DE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05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4548F1-BF52-3293-CE39-7A9DCA786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CD13E8-E082-7581-ED4F-CFC66A449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E68A04-1965-62AC-E549-B41AF98E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8D4A6A-E2B4-3AEC-6669-FD6A078B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BC8892-49FF-1029-BC42-214CE5F3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24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A308E5-E2CF-94EF-1282-6EAA797C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13569A-13BF-9105-ACAF-D664B0D92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A5E622-80DD-7B96-8EE0-85EF9FF5C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292C1-E856-4725-9CE4-F9C7755610D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A94EF2-A4E0-0FC1-2FE2-B554EF361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808BE-FEE5-8502-39D7-07D702A5F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58105-13AF-4F3C-8D5A-F4A57AB36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2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9E5FAD-2616-9227-9C8D-A5AE1AE8EF03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19B7C9"/>
          </a:solidFill>
          <a:ln w="0">
            <a:solidFill>
              <a:srgbClr val="19B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F777-0632-3AD1-F8FD-C51AE663E2DC}"/>
              </a:ext>
            </a:extLst>
          </p:cNvPr>
          <p:cNvSpPr txBox="1"/>
          <p:nvPr/>
        </p:nvSpPr>
        <p:spPr>
          <a:xfrm>
            <a:off x="609600" y="584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>
                <a:solidFill>
                  <a:srgbClr val="19B7C9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1500" b="1">
                <a:solidFill>
                  <a:srgbClr val="19B7C9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500" b="1">
                <a:solidFill>
                  <a:srgbClr val="19B7C9"/>
                </a:solidFill>
                <a:latin typeface="맑은 고딕" panose="020B0503020000020004" pitchFamily="50" charset="-127"/>
              </a:rPr>
              <a:t>회 해병항공 전투발전 워크숍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060A3-3881-F709-685E-9AF6F7C02652}"/>
              </a:ext>
            </a:extLst>
          </p:cNvPr>
          <p:cNvSpPr txBox="1"/>
          <p:nvPr/>
        </p:nvSpPr>
        <p:spPr>
          <a:xfrm>
            <a:off x="609600" y="14224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</a:rPr>
              <a:t>데이터를 활용한</a:t>
            </a:r>
          </a:p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</a:rPr>
              <a:t>조종능력 향상 방안</a:t>
            </a:r>
            <a:endParaRPr lang="ko-KR" altLang="en-US" sz="3800" b="1" dirty="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165B1-2AF0-1D5A-78A2-9EA10D7CD17A}"/>
              </a:ext>
            </a:extLst>
          </p:cNvPr>
          <p:cNvSpPr txBox="1"/>
          <p:nvPr/>
        </p:nvSpPr>
        <p:spPr>
          <a:xfrm>
            <a:off x="660400" y="3276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>
                <a:solidFill>
                  <a:srgbClr val="C5D8E9"/>
                </a:solidFill>
                <a:latin typeface="맑은 고딕" panose="020B0503020000020004" pitchFamily="50" charset="-127"/>
              </a:rPr>
              <a:t>시선</a:t>
            </a:r>
            <a:r>
              <a:rPr lang="en-US" altLang="ko-KR" sz="2000">
                <a:solidFill>
                  <a:srgbClr val="C5D8E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C5D8E9"/>
                </a:solidFill>
                <a:latin typeface="맑은 고딕" panose="020B0503020000020004" pitchFamily="50" charset="-127"/>
              </a:rPr>
              <a:t>조종</a:t>
            </a:r>
            <a:r>
              <a:rPr lang="en-US" altLang="ko-KR" sz="2000">
                <a:solidFill>
                  <a:srgbClr val="C5D8E9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C5D8E9"/>
                </a:solidFill>
                <a:latin typeface="맑은 고딕" panose="020B0503020000020004" pitchFamily="50" charset="-127"/>
              </a:rPr>
              <a:t>상황 데이터를 결합한</a:t>
            </a:r>
          </a:p>
          <a:p>
            <a:r>
              <a:rPr lang="ko-KR" altLang="en-US" sz="2000">
                <a:solidFill>
                  <a:srgbClr val="C5D8E9"/>
                </a:solidFill>
                <a:latin typeface="맑은 고딕" panose="020B0503020000020004" pitchFamily="50" charset="-127"/>
              </a:rPr>
              <a:t>데이터 기반 디브리핑 프레임워크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0983E5-4AA1-500B-E56B-8405BD0EAF41}"/>
              </a:ext>
            </a:extLst>
          </p:cNvPr>
          <p:cNvSpPr/>
          <p:nvPr/>
        </p:nvSpPr>
        <p:spPr>
          <a:xfrm>
            <a:off x="635000" y="4495800"/>
            <a:ext cx="1905000" cy="304800"/>
          </a:xfrm>
          <a:prstGeom prst="round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D6472-4C16-3432-B9C8-B8D10D2AC244}"/>
              </a:ext>
            </a:extLst>
          </p:cNvPr>
          <p:cNvSpPr txBox="1"/>
          <p:nvPr/>
        </p:nvSpPr>
        <p:spPr>
          <a:xfrm>
            <a:off x="736600" y="45085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APISAT 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연구 기반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16AB9DB-3D45-307D-DDBB-676A07CCCF76}"/>
              </a:ext>
            </a:extLst>
          </p:cNvPr>
          <p:cNvSpPr/>
          <p:nvPr/>
        </p:nvSpPr>
        <p:spPr>
          <a:xfrm>
            <a:off x="2667000" y="4495800"/>
            <a:ext cx="2032000" cy="304800"/>
          </a:xfrm>
          <a:prstGeom prst="round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61A10-3B83-0B45-C774-08E9464362AA}"/>
              </a:ext>
            </a:extLst>
          </p:cNvPr>
          <p:cNvSpPr txBox="1"/>
          <p:nvPr/>
        </p:nvSpPr>
        <p:spPr>
          <a:xfrm>
            <a:off x="2768600" y="45085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군 적용 개념 제안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0727E-4F74-CAA9-AECA-654629F3C3A1}"/>
              </a:ext>
            </a:extLst>
          </p:cNvPr>
          <p:cNvSpPr txBox="1"/>
          <p:nvPr/>
        </p:nvSpPr>
        <p:spPr>
          <a:xfrm>
            <a:off x="635000" y="5308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>
                <a:solidFill>
                  <a:srgbClr val="FFFFFF"/>
                </a:solidFill>
                <a:latin typeface="맑은 고딕" panose="020B0503020000020004" pitchFamily="50" charset="-127"/>
              </a:rPr>
              <a:t>김석호  </a:t>
            </a:r>
            <a:r>
              <a:rPr lang="en-US" altLang="ko-KR" sz="1500">
                <a:solidFill>
                  <a:srgbClr val="FFFFF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500">
                <a:solidFill>
                  <a:srgbClr val="FFFFFF"/>
                </a:solidFill>
                <a:latin typeface="맑은 고딕" panose="020B0503020000020004" pitchFamily="50" charset="-127"/>
              </a:rPr>
              <a:t>인하대학교 항공우주공학과</a:t>
            </a:r>
          </a:p>
          <a:p>
            <a:r>
              <a:rPr lang="en-US" altLang="ko-KR" sz="1500">
                <a:solidFill>
                  <a:srgbClr val="FFFFFF"/>
                </a:solidFill>
                <a:latin typeface="맑은 고딕" panose="020B0503020000020004" pitchFamily="50" charset="-127"/>
              </a:rPr>
              <a:t>2026. 09. 22.</a:t>
            </a:r>
            <a:endParaRPr lang="ko-KR" altLang="en-US" sz="15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0C9E4C7-0D35-BD34-3DCA-065531FD6CC1}"/>
              </a:ext>
            </a:extLst>
          </p:cNvPr>
          <p:cNvCxnSpPr/>
          <p:nvPr/>
        </p:nvCxnSpPr>
        <p:spPr>
          <a:xfrm>
            <a:off x="7899400" y="2984500"/>
            <a:ext cx="3530600" cy="0"/>
          </a:xfrm>
          <a:prstGeom prst="line">
            <a:avLst/>
          </a:prstGeom>
          <a:ln w="635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6BF8FC6-FBA9-DE69-FD3A-BAB9558E8484}"/>
              </a:ext>
            </a:extLst>
          </p:cNvPr>
          <p:cNvCxnSpPr/>
          <p:nvPr/>
        </p:nvCxnSpPr>
        <p:spPr>
          <a:xfrm>
            <a:off x="9652000" y="2540000"/>
            <a:ext cx="0" cy="952500"/>
          </a:xfrm>
          <a:prstGeom prst="line">
            <a:avLst/>
          </a:prstGeom>
          <a:ln w="381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D74FB-678E-B0E7-2646-73606D198122}"/>
              </a:ext>
            </a:extLst>
          </p:cNvPr>
          <p:cNvSpPr/>
          <p:nvPr/>
        </p:nvSpPr>
        <p:spPr>
          <a:xfrm>
            <a:off x="8585200" y="3365500"/>
            <a:ext cx="2209800" cy="698500"/>
          </a:xfrm>
          <a:prstGeom prst="roundRect">
            <a:avLst/>
          </a:prstGeom>
          <a:solidFill>
            <a:srgbClr val="123A5C"/>
          </a:solidFill>
          <a:ln w="25400">
            <a:solidFill>
              <a:srgbClr val="19B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F7B4EB7-AA52-2E58-AEC7-82EEE7A9B2F2}"/>
              </a:ext>
            </a:extLst>
          </p:cNvPr>
          <p:cNvCxnSpPr/>
          <p:nvPr/>
        </p:nvCxnSpPr>
        <p:spPr>
          <a:xfrm flipH="1" flipV="1">
            <a:off x="7721600" y="3517900"/>
            <a:ext cx="863600" cy="215900"/>
          </a:xfrm>
          <a:prstGeom prst="line">
            <a:avLst/>
          </a:prstGeom>
          <a:ln w="635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A0C0A1B-F942-117C-F035-B31E8F3F2D01}"/>
              </a:ext>
            </a:extLst>
          </p:cNvPr>
          <p:cNvCxnSpPr/>
          <p:nvPr/>
        </p:nvCxnSpPr>
        <p:spPr>
          <a:xfrm flipH="1" flipV="1">
            <a:off x="7366000" y="3289300"/>
            <a:ext cx="355600" cy="228600"/>
          </a:xfrm>
          <a:prstGeom prst="line">
            <a:avLst/>
          </a:prstGeom>
          <a:ln w="508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FA1AB1C-393C-1E0C-9F1E-A234A0E5BB11}"/>
              </a:ext>
            </a:extLst>
          </p:cNvPr>
          <p:cNvCxnSpPr/>
          <p:nvPr/>
        </p:nvCxnSpPr>
        <p:spPr>
          <a:xfrm flipH="1">
            <a:off x="7442200" y="3390900"/>
            <a:ext cx="330200" cy="279400"/>
          </a:xfrm>
          <a:prstGeom prst="line">
            <a:avLst/>
          </a:prstGeom>
          <a:ln w="254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C05F0C1-13F6-B645-6628-149AB0E3E23D}"/>
              </a:ext>
            </a:extLst>
          </p:cNvPr>
          <p:cNvCxnSpPr/>
          <p:nvPr/>
        </p:nvCxnSpPr>
        <p:spPr>
          <a:xfrm flipH="1" flipV="1">
            <a:off x="7442200" y="3111500"/>
            <a:ext cx="330200" cy="279400"/>
          </a:xfrm>
          <a:prstGeom prst="line">
            <a:avLst/>
          </a:prstGeom>
          <a:ln w="254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8902646-5F0D-761F-5EB7-4208E5ABD7AC}"/>
              </a:ext>
            </a:extLst>
          </p:cNvPr>
          <p:cNvCxnSpPr/>
          <p:nvPr/>
        </p:nvCxnSpPr>
        <p:spPr>
          <a:xfrm flipH="1">
            <a:off x="8712200" y="4064000"/>
            <a:ext cx="228600" cy="381000"/>
          </a:xfrm>
          <a:prstGeom prst="line">
            <a:avLst/>
          </a:prstGeom>
          <a:ln w="381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9D54F98-D6C5-F218-05EC-10CEBEED0BBD}"/>
              </a:ext>
            </a:extLst>
          </p:cNvPr>
          <p:cNvCxnSpPr/>
          <p:nvPr/>
        </p:nvCxnSpPr>
        <p:spPr>
          <a:xfrm>
            <a:off x="10464800" y="4064000"/>
            <a:ext cx="254000" cy="381000"/>
          </a:xfrm>
          <a:prstGeom prst="line">
            <a:avLst/>
          </a:prstGeom>
          <a:ln w="381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94FA924-2D71-5C7B-A531-89CCB2D46007}"/>
              </a:ext>
            </a:extLst>
          </p:cNvPr>
          <p:cNvCxnSpPr/>
          <p:nvPr/>
        </p:nvCxnSpPr>
        <p:spPr>
          <a:xfrm>
            <a:off x="8585200" y="4445000"/>
            <a:ext cx="2286000" cy="0"/>
          </a:xfrm>
          <a:prstGeom prst="line">
            <a:avLst/>
          </a:prstGeom>
          <a:ln w="38100">
            <a:solidFill>
              <a:srgbClr val="1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12F3210-D3E6-25ED-52E5-417D02A37C91}"/>
              </a:ext>
            </a:extLst>
          </p:cNvPr>
          <p:cNvCxnSpPr/>
          <p:nvPr/>
        </p:nvCxnSpPr>
        <p:spPr>
          <a:xfrm>
            <a:off x="8966200" y="3492500"/>
            <a:ext cx="5842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FE202CE-CB6E-F029-EDA1-85F52815D366}"/>
              </a:ext>
            </a:extLst>
          </p:cNvPr>
          <p:cNvCxnSpPr/>
          <p:nvPr/>
        </p:nvCxnSpPr>
        <p:spPr>
          <a:xfrm>
            <a:off x="9601200" y="3492500"/>
            <a:ext cx="6096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9A285FB-F8E9-4343-BFCF-CDFEAB48EBCB}"/>
              </a:ext>
            </a:extLst>
          </p:cNvPr>
          <p:cNvCxnSpPr/>
          <p:nvPr/>
        </p:nvCxnSpPr>
        <p:spPr>
          <a:xfrm>
            <a:off x="10248900" y="3492500"/>
            <a:ext cx="393700" cy="2413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AF9F1B-24D9-86D8-6B31-1E19EEBFD994}"/>
              </a:ext>
            </a:extLst>
          </p:cNvPr>
          <p:cNvSpPr txBox="1"/>
          <p:nvPr/>
        </p:nvSpPr>
        <p:spPr>
          <a:xfrm>
            <a:off x="7556500" y="51308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rgbClr val="19B7C9"/>
                </a:solidFill>
                <a:latin typeface="맑은 고딕" panose="020B0503020000020004" pitchFamily="50" charset="-127"/>
              </a:rPr>
              <a:t>TRAIN  ·  MEASURE  ·  DEBRIEF  ·  IMPROVE</a:t>
            </a:r>
            <a:endParaRPr lang="ko-KR" altLang="en-US" sz="1200" b="1">
              <a:solidFill>
                <a:srgbClr val="19B7C9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7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E120DD-D282-3D6C-BB8D-739A0B98805F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01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핵심 제안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EA825-FF6F-0F2B-7D21-3E47B7746D34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오늘 말씀드릴 결론은 세 가지입니다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17DCE-F626-E884-E09B-4EC43983281D}"/>
              </a:ext>
            </a:extLst>
          </p:cNvPr>
          <p:cNvSpPr txBox="1"/>
          <p:nvPr/>
        </p:nvSpPr>
        <p:spPr>
          <a:xfrm>
            <a:off x="533400" y="1117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AI</a:t>
            </a:r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는 결론을 대신하는 채점기가 아니라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교관이 근거를 더 잘 보게 하는 도구입니다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CAAB684-05EB-6B36-630D-99ED2EDA8C88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2D4A51D-377C-397E-4DEE-43616965662D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B2D48-E317-E9A2-1DC4-61F4C1CD3AC9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02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7913E6C-701B-849C-CA40-3CE4C789A02E}"/>
              </a:ext>
            </a:extLst>
          </p:cNvPr>
          <p:cNvSpPr/>
          <p:nvPr/>
        </p:nvSpPr>
        <p:spPr>
          <a:xfrm>
            <a:off x="533400" y="1727200"/>
            <a:ext cx="3505200" cy="30226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3D7892-A33A-7D5D-D769-E5EB02D6AA02}"/>
              </a:ext>
            </a:extLst>
          </p:cNvPr>
          <p:cNvSpPr/>
          <p:nvPr/>
        </p:nvSpPr>
        <p:spPr>
          <a:xfrm>
            <a:off x="533400" y="1727200"/>
            <a:ext cx="88900" cy="30226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435DB2-9A68-76F1-849D-9EB8CF902D65}"/>
              </a:ext>
            </a:extLst>
          </p:cNvPr>
          <p:cNvSpPr txBox="1"/>
          <p:nvPr/>
        </p:nvSpPr>
        <p:spPr>
          <a:xfrm>
            <a:off x="787400" y="19050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구현됨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168DC-277E-4228-93BC-AA93F7A3C518}"/>
              </a:ext>
            </a:extLst>
          </p:cNvPr>
          <p:cNvSpPr txBox="1"/>
          <p:nvPr/>
        </p:nvSpPr>
        <p:spPr>
          <a:xfrm>
            <a:off x="787400" y="23622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비행상태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조종입력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시선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상황 이벤트를 동일 시간축으로 수집하고 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trial 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단위로 자동 분석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0180F4B-63AE-5A08-C771-CE0A1AC30830}"/>
              </a:ext>
            </a:extLst>
          </p:cNvPr>
          <p:cNvSpPr/>
          <p:nvPr/>
        </p:nvSpPr>
        <p:spPr>
          <a:xfrm>
            <a:off x="4343400" y="1727200"/>
            <a:ext cx="3505200" cy="30226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DF1054-A147-7EA9-015F-F2958D115595}"/>
              </a:ext>
            </a:extLst>
          </p:cNvPr>
          <p:cNvSpPr/>
          <p:nvPr/>
        </p:nvSpPr>
        <p:spPr>
          <a:xfrm>
            <a:off x="4343400" y="1727200"/>
            <a:ext cx="88900" cy="3022600"/>
          </a:xfrm>
          <a:prstGeom prst="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0E459-C2F6-1011-CCA4-406BC9554FFC}"/>
              </a:ext>
            </a:extLst>
          </p:cNvPr>
          <p:cNvSpPr txBox="1"/>
          <p:nvPr/>
        </p:nvSpPr>
        <p:spPr>
          <a:xfrm>
            <a:off x="4597400" y="19050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확인됨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F7A57-6A24-AC4F-10B6-ADB77A8D45FE}"/>
              </a:ext>
            </a:extLst>
          </p:cNvPr>
          <p:cNvSpPr txBox="1"/>
          <p:nvPr/>
        </p:nvSpPr>
        <p:spPr>
          <a:xfrm>
            <a:off x="4597400" y="23622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36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개 균형 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trial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에서 데이터 완전성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, gaze 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품질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반응 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event, AOI 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전이 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Matrix 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산출 가능성 검증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BE4A7FC-0660-48AC-383E-05071C1F0CAC}"/>
              </a:ext>
            </a:extLst>
          </p:cNvPr>
          <p:cNvSpPr/>
          <p:nvPr/>
        </p:nvSpPr>
        <p:spPr>
          <a:xfrm>
            <a:off x="8153400" y="1727200"/>
            <a:ext cx="3505200" cy="30226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EECC96-AB6F-234C-2D96-3F2248AAB157}"/>
              </a:ext>
            </a:extLst>
          </p:cNvPr>
          <p:cNvSpPr/>
          <p:nvPr/>
        </p:nvSpPr>
        <p:spPr>
          <a:xfrm>
            <a:off x="8153400" y="1727200"/>
            <a:ext cx="88900" cy="3022600"/>
          </a:xfrm>
          <a:prstGeom prst="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BE6232-886E-5BA6-2D75-3CA21A97A113}"/>
              </a:ext>
            </a:extLst>
          </p:cNvPr>
          <p:cNvSpPr txBox="1"/>
          <p:nvPr/>
        </p:nvSpPr>
        <p:spPr>
          <a:xfrm>
            <a:off x="8407400" y="19050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제안함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2BEC39-BA33-D14B-4BAB-E04164945CB8}"/>
              </a:ext>
            </a:extLst>
          </p:cNvPr>
          <p:cNvSpPr txBox="1"/>
          <p:nvPr/>
        </p:nvSpPr>
        <p:spPr>
          <a:xfrm>
            <a:off x="8407400" y="23622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마린온급 시뮬레이터의 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data adapter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와 교관용 디브리핑 화면으로 이식 후</a:t>
            </a:r>
            <a:r>
              <a:rPr lang="en-US" altLang="ko-KR" sz="1500">
                <a:solidFill>
                  <a:srgbClr val="17253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72536"/>
                </a:solidFill>
                <a:latin typeface="맑은 고딕" panose="020B0503020000020004" pitchFamily="50" charset="-127"/>
              </a:rPr>
              <a:t>검증된 기준모델을 단계적으로 구축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021FDD5-EF3D-0772-91D0-907D4D0CC49B}"/>
              </a:ext>
            </a:extLst>
          </p:cNvPr>
          <p:cNvSpPr/>
          <p:nvPr/>
        </p:nvSpPr>
        <p:spPr>
          <a:xfrm>
            <a:off x="1168400" y="5156200"/>
            <a:ext cx="9855200" cy="685800"/>
          </a:xfrm>
          <a:prstGeom prst="roundRect">
            <a:avLst/>
          </a:prstGeom>
          <a:solidFill>
            <a:srgbClr val="071B33"/>
          </a:solidFill>
          <a:ln w="0">
            <a:solidFill>
              <a:srgbClr val="071B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9E9CA-0AF0-8339-1F44-5C18788789A6}"/>
              </a:ext>
            </a:extLst>
          </p:cNvPr>
          <p:cNvSpPr txBox="1"/>
          <p:nvPr/>
        </p:nvSpPr>
        <p:spPr>
          <a:xfrm>
            <a:off x="1422400" y="5308600"/>
            <a:ext cx="934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목표</a:t>
            </a:r>
            <a:r>
              <a:rPr lang="en-US" altLang="ko-KR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: ‘</a:t>
            </a:r>
            <a:r>
              <a:rPr lang="ko-KR" altLang="en-US" sz="1900" b="1">
                <a:solidFill>
                  <a:srgbClr val="FFFFFF"/>
                </a:solidFill>
                <a:latin typeface="맑은 고딕" panose="020B0503020000020004" pitchFamily="50" charset="-127"/>
              </a:rPr>
              <a:t>시간 이수형 훈련’에 행동 데이터 기반 설명과 반복학습을 더한다</a:t>
            </a:r>
          </a:p>
        </p:txBody>
      </p:sp>
    </p:spTree>
    <p:extLst>
      <p:ext uri="{BB962C8B-B14F-4D97-AF65-F5344CB8AC3E}">
        <p14:creationId xmlns:p14="http://schemas.microsoft.com/office/powerpoint/2010/main" val="721793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63C26-E90C-EC7A-1723-EE782A19651F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01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운용 맥락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3544F-1A0B-7A2B-B75C-519C68044B65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해병항공은 고난도 임무를 안전하게 반복 숙달해야 합니다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DC339-92CF-66E2-6DF0-821E18BA244A}"/>
              </a:ext>
            </a:extLst>
          </p:cNvPr>
          <p:cNvSpPr txBox="1"/>
          <p:nvPr/>
        </p:nvSpPr>
        <p:spPr>
          <a:xfrm>
            <a:off x="533400" y="1117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공식 자료가 제시하는 임무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훈련 방향과 데이터 기반 디브리핑의 접점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3A0FC1A-DF5D-CC1D-0356-2403379E9C5C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883AE2-8B8C-924D-615A-DD5C5AFA38DE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61B77-AB34-A9FF-7007-66B40ED68DFC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03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A2FAAAE-A540-06E7-BC24-3BC5A6B7BA27}"/>
              </a:ext>
            </a:extLst>
          </p:cNvPr>
          <p:cNvSpPr/>
          <p:nvPr/>
        </p:nvSpPr>
        <p:spPr>
          <a:xfrm>
            <a:off x="533400" y="1676400"/>
            <a:ext cx="3429000" cy="20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8D9CDA-2383-2F48-8D0D-6779D1939F48}"/>
              </a:ext>
            </a:extLst>
          </p:cNvPr>
          <p:cNvSpPr/>
          <p:nvPr/>
        </p:nvSpPr>
        <p:spPr>
          <a:xfrm>
            <a:off x="533400" y="1676400"/>
            <a:ext cx="88900" cy="20320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F6739-01A2-D37A-A39D-ABC8B749B187}"/>
              </a:ext>
            </a:extLst>
          </p:cNvPr>
          <p:cNvSpPr txBox="1"/>
          <p:nvPr/>
        </p:nvSpPr>
        <p:spPr>
          <a:xfrm>
            <a:off x="787400" y="18542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상륙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공중기동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C8592B-4171-58BF-A9A3-639EBA9196BF}"/>
              </a:ext>
            </a:extLst>
          </p:cNvPr>
          <p:cNvSpPr txBox="1"/>
          <p:nvPr/>
        </p:nvSpPr>
        <p:spPr>
          <a:xfrm>
            <a:off x="787400" y="23114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함정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–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육상 간 병력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장비 수송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공중강습 및 입체적 상륙작전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596D95F-D1F7-94A7-DE76-EC8FBD32126B}"/>
              </a:ext>
            </a:extLst>
          </p:cNvPr>
          <p:cNvSpPr/>
          <p:nvPr/>
        </p:nvSpPr>
        <p:spPr>
          <a:xfrm>
            <a:off x="4381500" y="1676400"/>
            <a:ext cx="3429000" cy="20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38A074-C1CA-607C-D3F5-BC7A6F989A07}"/>
              </a:ext>
            </a:extLst>
          </p:cNvPr>
          <p:cNvSpPr/>
          <p:nvPr/>
        </p:nvSpPr>
        <p:spPr>
          <a:xfrm>
            <a:off x="4381500" y="1676400"/>
            <a:ext cx="88900" cy="2032000"/>
          </a:xfrm>
          <a:prstGeom prst="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EE248-E48E-BB97-3C81-0AAB054DBE9C}"/>
              </a:ext>
            </a:extLst>
          </p:cNvPr>
          <p:cNvSpPr txBox="1"/>
          <p:nvPr/>
        </p:nvSpPr>
        <p:spPr>
          <a:xfrm>
            <a:off x="4635500" y="18542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신속 대응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B4E792-22E3-F419-7B6D-D1D8550B8123}"/>
              </a:ext>
            </a:extLst>
          </p:cNvPr>
          <p:cNvSpPr txBox="1"/>
          <p:nvPr/>
        </p:nvSpPr>
        <p:spPr>
          <a:xfrm>
            <a:off x="4635500" y="23114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도서지역 국지도발 등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시간 압박이 큰 상황 대응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A4C054A-D8F0-6720-FA53-97BE54A018A7}"/>
              </a:ext>
            </a:extLst>
          </p:cNvPr>
          <p:cNvSpPr/>
          <p:nvPr/>
        </p:nvSpPr>
        <p:spPr>
          <a:xfrm>
            <a:off x="8229600" y="1676400"/>
            <a:ext cx="3429000" cy="20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12EFCD-53BB-691A-21E3-2D7996BADC05}"/>
              </a:ext>
            </a:extLst>
          </p:cNvPr>
          <p:cNvSpPr/>
          <p:nvPr/>
        </p:nvSpPr>
        <p:spPr>
          <a:xfrm>
            <a:off x="8229600" y="1676400"/>
            <a:ext cx="88900" cy="2032000"/>
          </a:xfrm>
          <a:prstGeom prst="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2D085E-07A8-C2C2-2DCC-57318B70AFEF}"/>
              </a:ext>
            </a:extLst>
          </p:cNvPr>
          <p:cNvSpPr txBox="1"/>
          <p:nvPr/>
        </p:nvSpPr>
        <p:spPr>
          <a:xfrm>
            <a:off x="8483600" y="18542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고난도 모의훈련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FB3B8-7AFA-5DF2-C129-862EE1A1BC2B}"/>
              </a:ext>
            </a:extLst>
          </p:cNvPr>
          <p:cNvSpPr txBox="1"/>
          <p:nvPr/>
        </p:nvSpPr>
        <p:spPr>
          <a:xfrm>
            <a:off x="8483600" y="23114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악천후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비상상황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전술상황을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실기체 위험 없이 반복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4C49843-5ACE-6C8A-9BA4-1C5BA18C6282}"/>
              </a:ext>
            </a:extLst>
          </p:cNvPr>
          <p:cNvCxnSpPr/>
          <p:nvPr/>
        </p:nvCxnSpPr>
        <p:spPr>
          <a:xfrm>
            <a:off x="1651000" y="4191000"/>
            <a:ext cx="8890000" cy="0"/>
          </a:xfrm>
          <a:prstGeom prst="line">
            <a:avLst/>
          </a:prstGeom>
          <a:ln w="50800">
            <a:solidFill>
              <a:srgbClr val="19B7C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01BB3B00-5797-90BE-9021-31B7BF45FAE7}"/>
              </a:ext>
            </a:extLst>
          </p:cNvPr>
          <p:cNvSpPr/>
          <p:nvPr/>
        </p:nvSpPr>
        <p:spPr>
          <a:xfrm>
            <a:off x="1422400" y="3924300"/>
            <a:ext cx="533400" cy="533400"/>
          </a:xfrm>
          <a:prstGeom prst="ellipse">
            <a:avLst/>
          </a:prstGeom>
          <a:solidFill>
            <a:srgbClr val="071B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C73664-5F2F-8E66-BF0D-E2272A80BF13}"/>
              </a:ext>
            </a:extLst>
          </p:cNvPr>
          <p:cNvSpPr txBox="1"/>
          <p:nvPr/>
        </p:nvSpPr>
        <p:spPr>
          <a:xfrm>
            <a:off x="1422400" y="3924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훈련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886192F-DE30-FD85-7A91-96D06CC7A5B6}"/>
              </a:ext>
            </a:extLst>
          </p:cNvPr>
          <p:cNvSpPr/>
          <p:nvPr/>
        </p:nvSpPr>
        <p:spPr>
          <a:xfrm>
            <a:off x="4051300" y="3924300"/>
            <a:ext cx="533400" cy="533400"/>
          </a:xfrm>
          <a:prstGeom prst="ellipse">
            <a:avLst/>
          </a:prstGeom>
          <a:solidFill>
            <a:srgbClr val="176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C13D7C-E5E1-D4B1-8F37-D215E653F4DD}"/>
              </a:ext>
            </a:extLst>
          </p:cNvPr>
          <p:cNvSpPr txBox="1"/>
          <p:nvPr/>
        </p:nvSpPr>
        <p:spPr>
          <a:xfrm>
            <a:off x="4051300" y="3924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데이터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8B7C750B-8B90-1CFD-C6D8-3EB73CF3D586}"/>
              </a:ext>
            </a:extLst>
          </p:cNvPr>
          <p:cNvSpPr/>
          <p:nvPr/>
        </p:nvSpPr>
        <p:spPr>
          <a:xfrm>
            <a:off x="6680200" y="3924300"/>
            <a:ext cx="533400" cy="533400"/>
          </a:xfrm>
          <a:prstGeom prst="ellipse">
            <a:avLst/>
          </a:prstGeom>
          <a:solidFill>
            <a:srgbClr val="2E9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934846-F9E6-633F-A986-68B64DC0D4A4}"/>
              </a:ext>
            </a:extLst>
          </p:cNvPr>
          <p:cNvSpPr txBox="1"/>
          <p:nvPr/>
        </p:nvSpPr>
        <p:spPr>
          <a:xfrm>
            <a:off x="6680200" y="3924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설명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677FA0F-397A-1DA3-F23A-C9F65740F3B4}"/>
              </a:ext>
            </a:extLst>
          </p:cNvPr>
          <p:cNvSpPr/>
          <p:nvPr/>
        </p:nvSpPr>
        <p:spPr>
          <a:xfrm>
            <a:off x="9309100" y="3924300"/>
            <a:ext cx="533400" cy="533400"/>
          </a:xfrm>
          <a:prstGeom prst="ellipse">
            <a:avLst/>
          </a:prstGeom>
          <a:solidFill>
            <a:srgbClr val="EF6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7CB84D-E4BE-222C-19F1-1D7488D460B7}"/>
              </a:ext>
            </a:extLst>
          </p:cNvPr>
          <p:cNvSpPr txBox="1"/>
          <p:nvPr/>
        </p:nvSpPr>
        <p:spPr>
          <a:xfrm>
            <a:off x="9309100" y="39243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재훈련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9C2A385-9BEE-96CD-ECF1-2FF0AB45C553}"/>
              </a:ext>
            </a:extLst>
          </p:cNvPr>
          <p:cNvSpPr/>
          <p:nvPr/>
        </p:nvSpPr>
        <p:spPr>
          <a:xfrm>
            <a:off x="1206500" y="4953000"/>
            <a:ext cx="9779000" cy="914400"/>
          </a:xfrm>
          <a:prstGeom prst="roundRect">
            <a:avLst/>
          </a:prstGeom>
          <a:solidFill>
            <a:srgbClr val="FFF6DF"/>
          </a:solidFill>
          <a:ln w="12700">
            <a:solidFill>
              <a:srgbClr val="E5A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FF6FAE-277B-FEC9-791F-4118A4D5099B}"/>
              </a:ext>
            </a:extLst>
          </p:cNvPr>
          <p:cNvSpPr txBox="1"/>
          <p:nvPr/>
        </p:nvSpPr>
        <p:spPr>
          <a:xfrm>
            <a:off x="1524000" y="51054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시뮬레이터는 이미 ‘상황을 재현’합니다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.</a:t>
            </a:r>
          </a:p>
          <a:p>
            <a:pPr algn="ctr"/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다음 단계는 그 안에서 나타난 조종행동을 정량적으로 설명하는 것입니다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899D70-EB8E-E053-1B50-C94932AF727B}"/>
              </a:ext>
            </a:extLst>
          </p:cNvPr>
          <p:cNvSpPr txBox="1"/>
          <p:nvPr/>
        </p:nvSpPr>
        <p:spPr>
          <a:xfrm>
            <a:off x="558800" y="6134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방위사업청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(2023.06.29,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마린온 전력화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), KAI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훈련체계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방위사업청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(2026.07.29, KUH-1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비행훈련시뮬레이터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37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8E3031-C6D8-CE8B-EEFB-6A707EE980E9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02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문제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DCBC1-067D-978D-AFDA-F3FF19D9A7EC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훈련 종료 후</a:t>
            </a:r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조종행동을 설명할 근거가 충분한가</a:t>
            </a:r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?</a:t>
            </a:r>
            <a:endParaRPr lang="ko-KR" altLang="en-US" sz="27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5CB6641-F4C3-5F34-5A81-857FB3241AF4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B40CD3F-1C14-1F8F-8D25-8FFB46FABB48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240A3-E87F-C609-D830-3A4E6EEDE50C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04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6ACA60F-44CC-BB45-BAC9-A4589F2131CC}"/>
              </a:ext>
            </a:extLst>
          </p:cNvPr>
          <p:cNvSpPr/>
          <p:nvPr/>
        </p:nvSpPr>
        <p:spPr>
          <a:xfrm>
            <a:off x="571500" y="1625600"/>
            <a:ext cx="4953000" cy="39370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71C75-9D80-4B57-8B11-70430EEEC5C8}"/>
              </a:ext>
            </a:extLst>
          </p:cNvPr>
          <p:cNvSpPr txBox="1"/>
          <p:nvPr/>
        </p:nvSpPr>
        <p:spPr>
          <a:xfrm>
            <a:off x="863600" y="18796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900" b="1">
                <a:solidFill>
                  <a:srgbClr val="EF6555"/>
                </a:solidFill>
                <a:latin typeface="맑은 고딕" panose="020B0503020000020004" pitchFamily="50" charset="-127"/>
              </a:rPr>
              <a:t>기존에 쉽게 남는 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53494E-066F-EA36-F801-735316F1FF0D}"/>
              </a:ext>
            </a:extLst>
          </p:cNvPr>
          <p:cNvSpPr txBox="1"/>
          <p:nvPr/>
        </p:nvSpPr>
        <p:spPr>
          <a:xfrm>
            <a:off x="914400" y="2514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비행경로</a:t>
            </a:r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고도</a:t>
            </a:r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속도</a:t>
            </a:r>
          </a:p>
          <a:p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임무 성공</a:t>
            </a:r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실패</a:t>
            </a:r>
          </a:p>
          <a:p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교관의 관찰과 기억</a:t>
            </a:r>
          </a:p>
          <a:p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일부 이벤트</a:t>
            </a:r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통신 기록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6A508-C42C-35D8-B012-3A49CE2F5FE5}"/>
              </a:ext>
            </a:extLst>
          </p:cNvPr>
          <p:cNvSpPr txBox="1"/>
          <p:nvPr/>
        </p:nvSpPr>
        <p:spPr>
          <a:xfrm>
            <a:off x="889000" y="46482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>
                <a:solidFill>
                  <a:srgbClr val="EF6555"/>
                </a:solidFill>
                <a:latin typeface="맑은 고딕" panose="020B0503020000020004" pitchFamily="50" charset="-127"/>
              </a:rPr>
              <a:t>결과는 보이지만</a:t>
            </a:r>
            <a:r>
              <a:rPr lang="en-US" altLang="ko-KR" sz="1500" b="1">
                <a:solidFill>
                  <a:srgbClr val="EF65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EF6555"/>
                </a:solidFill>
                <a:latin typeface="맑은 고딕" panose="020B0503020000020004" pitchFamily="50" charset="-127"/>
              </a:rPr>
              <a:t>판단 과정은 부분적으로만 남음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DCAB663-7392-1A84-F601-9027B55BFF9F}"/>
              </a:ext>
            </a:extLst>
          </p:cNvPr>
          <p:cNvCxnSpPr/>
          <p:nvPr/>
        </p:nvCxnSpPr>
        <p:spPr>
          <a:xfrm>
            <a:off x="5689600" y="3581400"/>
            <a:ext cx="787400" cy="0"/>
          </a:xfrm>
          <a:prstGeom prst="line">
            <a:avLst/>
          </a:prstGeom>
          <a:ln w="635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0BC3B5B-1D73-2B42-E030-03AF9728D9B9}"/>
              </a:ext>
            </a:extLst>
          </p:cNvPr>
          <p:cNvSpPr/>
          <p:nvPr/>
        </p:nvSpPr>
        <p:spPr>
          <a:xfrm>
            <a:off x="6667500" y="1625600"/>
            <a:ext cx="4953000" cy="39370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26ADD3-2812-11C0-FF06-FC8BDE03EA7D}"/>
              </a:ext>
            </a:extLst>
          </p:cNvPr>
          <p:cNvSpPr txBox="1"/>
          <p:nvPr/>
        </p:nvSpPr>
        <p:spPr>
          <a:xfrm>
            <a:off x="6959600" y="18796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900" b="1">
                <a:solidFill>
                  <a:srgbClr val="2E9E6F"/>
                </a:solidFill>
                <a:latin typeface="맑은 고딕" panose="020B0503020000020004" pitchFamily="50" charset="-127"/>
              </a:rPr>
              <a:t>추가로 남겨야 할 것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AFB2B-1D92-BBA2-E248-CF00CABB2852}"/>
              </a:ext>
            </a:extLst>
          </p:cNvPr>
          <p:cNvSpPr txBox="1"/>
          <p:nvPr/>
        </p:nvSpPr>
        <p:spPr>
          <a:xfrm>
            <a:off x="7010400" y="2514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어디를 보았는가</a:t>
            </a:r>
          </a:p>
          <a:p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위협이 언제 관측 가능했는가</a:t>
            </a:r>
          </a:p>
          <a:p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조종입력이 언제 변했는가</a:t>
            </a:r>
          </a:p>
          <a:p>
            <a:r>
              <a:rPr lang="en-US" altLang="ko-KR" sz="1700">
                <a:solidFill>
                  <a:srgbClr val="172536"/>
                </a:solidFill>
                <a:latin typeface="맑은 고딕" panose="020B0503020000020004" pitchFamily="50" charset="-127"/>
              </a:rPr>
              <a:t>• SOP·</a:t>
            </a:r>
            <a:r>
              <a:rPr lang="ko-KR" altLang="en-US" sz="1700">
                <a:solidFill>
                  <a:srgbClr val="172536"/>
                </a:solidFill>
                <a:latin typeface="맑은 고딕" panose="020B0503020000020004" pitchFamily="50" charset="-127"/>
              </a:rPr>
              <a:t>숙련 기준과 무엇이 다른가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B0A481-1374-C25E-FA24-C0B387FAC11F}"/>
              </a:ext>
            </a:extLst>
          </p:cNvPr>
          <p:cNvSpPr txBox="1"/>
          <p:nvPr/>
        </p:nvSpPr>
        <p:spPr>
          <a:xfrm>
            <a:off x="6985000" y="46482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>
                <a:solidFill>
                  <a:srgbClr val="2E9E6F"/>
                </a:solidFill>
                <a:latin typeface="맑은 고딕" panose="020B0503020000020004" pitchFamily="50" charset="-127"/>
              </a:rPr>
              <a:t>결과 </a:t>
            </a:r>
            <a:r>
              <a:rPr lang="en-US" altLang="ko-KR" sz="1500" b="1">
                <a:solidFill>
                  <a:srgbClr val="2E9E6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500" b="1">
                <a:solidFill>
                  <a:srgbClr val="2E9E6F"/>
                </a:solidFill>
                <a:latin typeface="맑은 고딕" panose="020B0503020000020004" pitchFamily="50" charset="-127"/>
              </a:rPr>
              <a:t>과정 → 설명 가능한 디브리핑</a:t>
            </a:r>
          </a:p>
        </p:txBody>
      </p:sp>
    </p:spTree>
    <p:extLst>
      <p:ext uri="{BB962C8B-B14F-4D97-AF65-F5344CB8AC3E}">
        <p14:creationId xmlns:p14="http://schemas.microsoft.com/office/powerpoint/2010/main" val="302363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E63E35-BCC8-7E39-9460-BA8B4E3AC254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03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구현 프레임워크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99178-7806-4835-B027-B2FF29D72DA8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서로 다른 데이터 네 종류를 하나의 사건 시간축으로 정렬했습니다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358515-72D5-3F4B-0F8E-2F431199DD25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B3EC227-082D-9CB0-7FFF-AF0FADC067E1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E4532-93B2-7DAB-46A6-A4F84082D783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05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3CDAA13-255D-543E-B035-3622296B9FE6}"/>
              </a:ext>
            </a:extLst>
          </p:cNvPr>
          <p:cNvSpPr/>
          <p:nvPr/>
        </p:nvSpPr>
        <p:spPr>
          <a:xfrm>
            <a:off x="533400" y="1701800"/>
            <a:ext cx="2235200" cy="15875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EEFF18-8278-16EA-8206-7AD54727C476}"/>
              </a:ext>
            </a:extLst>
          </p:cNvPr>
          <p:cNvSpPr/>
          <p:nvPr/>
        </p:nvSpPr>
        <p:spPr>
          <a:xfrm>
            <a:off x="533400" y="1701800"/>
            <a:ext cx="88900" cy="15875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30612-E3E8-A560-D198-797ABEEE0CCC}"/>
              </a:ext>
            </a:extLst>
          </p:cNvPr>
          <p:cNvSpPr txBox="1"/>
          <p:nvPr/>
        </p:nvSpPr>
        <p:spPr>
          <a:xfrm>
            <a:off x="787400" y="18796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시뮬레이터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02983-96E3-A713-5E04-5BC2E7BAB371}"/>
              </a:ext>
            </a:extLst>
          </p:cNvPr>
          <p:cNvSpPr txBox="1"/>
          <p:nvPr/>
        </p:nvSpPr>
        <p:spPr>
          <a:xfrm>
            <a:off x="787400" y="23368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항공기 상태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위치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자세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속도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47BA4FE-3FB4-02A8-5E50-75C6A63E7252}"/>
              </a:ext>
            </a:extLst>
          </p:cNvPr>
          <p:cNvSpPr/>
          <p:nvPr/>
        </p:nvSpPr>
        <p:spPr>
          <a:xfrm>
            <a:off x="3073400" y="1701800"/>
            <a:ext cx="2235200" cy="15875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F00135-5E36-B95A-9861-E5CE8B9BE31A}"/>
              </a:ext>
            </a:extLst>
          </p:cNvPr>
          <p:cNvSpPr/>
          <p:nvPr/>
        </p:nvSpPr>
        <p:spPr>
          <a:xfrm>
            <a:off x="3073400" y="1701800"/>
            <a:ext cx="88900" cy="1587500"/>
          </a:xfrm>
          <a:prstGeom prst="rect">
            <a:avLst/>
          </a:prstGeom>
          <a:solidFill>
            <a:srgbClr val="19B7C9"/>
          </a:solidFill>
          <a:ln w="0">
            <a:solidFill>
              <a:srgbClr val="19B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2E8C3D-3A14-34D9-16A1-DF3F1AE71354}"/>
              </a:ext>
            </a:extLst>
          </p:cNvPr>
          <p:cNvSpPr txBox="1"/>
          <p:nvPr/>
        </p:nvSpPr>
        <p:spPr>
          <a:xfrm>
            <a:off x="3327400" y="18796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조종 입력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28D829-6144-04C5-1255-B53D773DA55F}"/>
              </a:ext>
            </a:extLst>
          </p:cNvPr>
          <p:cNvSpPr txBox="1"/>
          <p:nvPr/>
        </p:nvSpPr>
        <p:spPr>
          <a:xfrm>
            <a:off x="3327400" y="23368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pitch·roll·yaw</a:t>
            </a:r>
          </a:p>
          <a:p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throttle</a:t>
            </a:r>
            <a:endParaRPr lang="ko-KR" altLang="en-US" sz="14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5607504-DD5D-ACE4-F172-ECAA1DEFB3B3}"/>
              </a:ext>
            </a:extLst>
          </p:cNvPr>
          <p:cNvSpPr/>
          <p:nvPr/>
        </p:nvSpPr>
        <p:spPr>
          <a:xfrm>
            <a:off x="5613400" y="1701800"/>
            <a:ext cx="2235200" cy="1587500"/>
          </a:xfrm>
          <a:prstGeom prst="roundRect">
            <a:avLst/>
          </a:prstGeom>
          <a:solidFill>
            <a:srgbClr val="FFF6D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3E8FCD-86BD-AE4A-59CD-D0A5CF9478B4}"/>
              </a:ext>
            </a:extLst>
          </p:cNvPr>
          <p:cNvSpPr/>
          <p:nvPr/>
        </p:nvSpPr>
        <p:spPr>
          <a:xfrm>
            <a:off x="5613400" y="1701800"/>
            <a:ext cx="88900" cy="1587500"/>
          </a:xfrm>
          <a:prstGeom prst="rect">
            <a:avLst/>
          </a:prstGeom>
          <a:solidFill>
            <a:srgbClr val="E5A93D"/>
          </a:solidFill>
          <a:ln w="0">
            <a:solidFill>
              <a:srgbClr val="E5A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13C830-C73D-1F05-2972-24AEB224E8EF}"/>
              </a:ext>
            </a:extLst>
          </p:cNvPr>
          <p:cNvSpPr txBox="1"/>
          <p:nvPr/>
        </p:nvSpPr>
        <p:spPr>
          <a:xfrm>
            <a:off x="5867400" y="18796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시선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EE8B7E-C536-4E70-AC3F-1A3B77891128}"/>
              </a:ext>
            </a:extLst>
          </p:cNvPr>
          <p:cNvSpPr txBox="1"/>
          <p:nvPr/>
        </p:nvSpPr>
        <p:spPr>
          <a:xfrm>
            <a:off x="5867400" y="23368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화면 좌표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좌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우 눈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validity</a:t>
            </a:r>
            <a:endParaRPr lang="ko-KR" altLang="en-US" sz="14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69A6999-AF00-6569-446E-FF8896881AB1}"/>
              </a:ext>
            </a:extLst>
          </p:cNvPr>
          <p:cNvSpPr/>
          <p:nvPr/>
        </p:nvSpPr>
        <p:spPr>
          <a:xfrm>
            <a:off x="8153400" y="1701800"/>
            <a:ext cx="2235200" cy="15875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192AC7-8C3A-611A-A3EE-28A5E5FB840F}"/>
              </a:ext>
            </a:extLst>
          </p:cNvPr>
          <p:cNvSpPr/>
          <p:nvPr/>
        </p:nvSpPr>
        <p:spPr>
          <a:xfrm>
            <a:off x="8153400" y="1701800"/>
            <a:ext cx="88900" cy="1587500"/>
          </a:xfrm>
          <a:prstGeom prst="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EF454-C57C-96FB-EFDA-C72F7CF6FE98}"/>
              </a:ext>
            </a:extLst>
          </p:cNvPr>
          <p:cNvSpPr txBox="1"/>
          <p:nvPr/>
        </p:nvSpPr>
        <p:spPr>
          <a:xfrm>
            <a:off x="8407400" y="18796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상황 이벤트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2C582A-CB65-CA97-C9A6-DEB9A66C6D03}"/>
              </a:ext>
            </a:extLst>
          </p:cNvPr>
          <p:cNvSpPr txBox="1"/>
          <p:nvPr/>
        </p:nvSpPr>
        <p:spPr>
          <a:xfrm>
            <a:off x="8407400" y="2336800"/>
            <a:ext cx="179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spawn·20px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기회</a:t>
            </a:r>
          </a:p>
          <a:p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response·trial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종료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1A2C1C0-C261-0AAB-A930-34F7C57ADA2A}"/>
              </a:ext>
            </a:extLst>
          </p:cNvPr>
          <p:cNvCxnSpPr/>
          <p:nvPr/>
        </p:nvCxnSpPr>
        <p:spPr>
          <a:xfrm>
            <a:off x="1663700" y="3530600"/>
            <a:ext cx="7975600" cy="0"/>
          </a:xfrm>
          <a:prstGeom prst="line">
            <a:avLst/>
          </a:prstGeom>
          <a:ln w="38100">
            <a:solidFill>
              <a:srgbClr val="071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D1DAF1C-25BF-2FD9-F095-B8D0D9225AE9}"/>
              </a:ext>
            </a:extLst>
          </p:cNvPr>
          <p:cNvCxnSpPr/>
          <p:nvPr/>
        </p:nvCxnSpPr>
        <p:spPr>
          <a:xfrm>
            <a:off x="1651000" y="3276600"/>
            <a:ext cx="0" cy="57150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1832324-CCB7-EA40-FC36-5B0657AE48EF}"/>
              </a:ext>
            </a:extLst>
          </p:cNvPr>
          <p:cNvCxnSpPr/>
          <p:nvPr/>
        </p:nvCxnSpPr>
        <p:spPr>
          <a:xfrm>
            <a:off x="4191000" y="3276600"/>
            <a:ext cx="0" cy="57150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3E7B824-8203-2D8E-17E0-2A9CC9EDF2FB}"/>
              </a:ext>
            </a:extLst>
          </p:cNvPr>
          <p:cNvCxnSpPr/>
          <p:nvPr/>
        </p:nvCxnSpPr>
        <p:spPr>
          <a:xfrm>
            <a:off x="6731000" y="3276600"/>
            <a:ext cx="0" cy="57150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21A13A7-1F40-482E-20E3-03C0A2056810}"/>
              </a:ext>
            </a:extLst>
          </p:cNvPr>
          <p:cNvCxnSpPr/>
          <p:nvPr/>
        </p:nvCxnSpPr>
        <p:spPr>
          <a:xfrm>
            <a:off x="9271000" y="3276600"/>
            <a:ext cx="0" cy="57150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961FA90-5890-1B28-8B58-7B50AC0EBB81}"/>
              </a:ext>
            </a:extLst>
          </p:cNvPr>
          <p:cNvSpPr/>
          <p:nvPr/>
        </p:nvSpPr>
        <p:spPr>
          <a:xfrm>
            <a:off x="2667000" y="3873500"/>
            <a:ext cx="6858000" cy="914400"/>
          </a:xfrm>
          <a:prstGeom prst="roundRect">
            <a:avLst/>
          </a:prstGeom>
          <a:solidFill>
            <a:srgbClr val="071B33"/>
          </a:solidFill>
          <a:ln w="0">
            <a:solidFill>
              <a:srgbClr val="071B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57814F-49F1-429E-F492-269FA55CE292}"/>
              </a:ext>
            </a:extLst>
          </p:cNvPr>
          <p:cNvSpPr txBox="1"/>
          <p:nvPr/>
        </p:nvSpPr>
        <p:spPr>
          <a:xfrm>
            <a:off x="3048000" y="40386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PC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시간 병합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+ event alignment</a:t>
            </a:r>
            <a:endParaRPr lang="ko-KR" altLang="en-US" sz="2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5A9A2B-15CD-9B2D-6C68-1B36EE72DD24}"/>
              </a:ext>
            </a:extLst>
          </p:cNvPr>
          <p:cNvSpPr txBox="1"/>
          <p:nvPr/>
        </p:nvSpPr>
        <p:spPr>
          <a:xfrm>
            <a:off x="3111500" y="44069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>
                <a:solidFill>
                  <a:srgbClr val="BFD4E5"/>
                </a:solidFill>
                <a:latin typeface="맑은 고딕" panose="020B0503020000020004" pitchFamily="50" charset="-127"/>
              </a:rPr>
              <a:t>원본 스트림은 분리 보존 → 모든 결과를 </a:t>
            </a:r>
            <a:r>
              <a:rPr lang="en-US" altLang="ko-KR" sz="1200">
                <a:solidFill>
                  <a:srgbClr val="BFD4E5"/>
                </a:solidFill>
                <a:latin typeface="맑은 고딕" panose="020B0503020000020004" pitchFamily="50" charset="-127"/>
              </a:rPr>
              <a:t>row </a:t>
            </a:r>
            <a:r>
              <a:rPr lang="ko-KR" altLang="en-US" sz="1200">
                <a:solidFill>
                  <a:srgbClr val="BFD4E5"/>
                </a:solidFill>
                <a:latin typeface="맑은 고딕" panose="020B0503020000020004" pitchFamily="50" charset="-127"/>
              </a:rPr>
              <a:t>단위로 역추적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E434A72-0E74-8352-4CED-ACBD0A8179B1}"/>
              </a:ext>
            </a:extLst>
          </p:cNvPr>
          <p:cNvCxnSpPr/>
          <p:nvPr/>
        </p:nvCxnSpPr>
        <p:spPr>
          <a:xfrm>
            <a:off x="6096000" y="4787900"/>
            <a:ext cx="0" cy="393700"/>
          </a:xfrm>
          <a:prstGeom prst="line">
            <a:avLst/>
          </a:prstGeom>
          <a:ln w="381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99BB69C-77DA-D026-6D4C-95E8588016A2}"/>
              </a:ext>
            </a:extLst>
          </p:cNvPr>
          <p:cNvSpPr/>
          <p:nvPr/>
        </p:nvSpPr>
        <p:spPr>
          <a:xfrm>
            <a:off x="1460500" y="5207000"/>
            <a:ext cx="9271000" cy="76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18D2D7-6AFC-FA07-8716-865DA72E323F}"/>
              </a:ext>
            </a:extLst>
          </p:cNvPr>
          <p:cNvSpPr txBox="1"/>
          <p:nvPr/>
        </p:nvSpPr>
        <p:spPr>
          <a:xfrm>
            <a:off x="1778000" y="53848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trial </a:t>
            </a:r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요약  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반응시간  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|  AOI </a:t>
            </a:r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분포  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전이 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Matrix  |  </a:t>
            </a:r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감사 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CSV/SVG</a:t>
            </a:r>
            <a:endParaRPr lang="ko-KR" altLang="en-US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827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65220-9380-2964-5415-3C2E1F19FF10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03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구현 프레임워크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78A70-C753-48B1-A4CD-362D3E80DF98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한 번 시작하면 </a:t>
            </a:r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개 </a:t>
            </a:r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trial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이 자동으로 진행됩니다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4D43D2-A70B-F4B8-6C79-1EB8648B2D93}"/>
              </a:ext>
            </a:extLst>
          </p:cNvPr>
          <p:cNvSpPr txBox="1"/>
          <p:nvPr/>
        </p:nvSpPr>
        <p:spPr>
          <a:xfrm>
            <a:off x="533400" y="1117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조종사의 버튼 조작을 줄이고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방향 균형과 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washout</a:t>
            </a:r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을 자동 보장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3DDB1B1-CC69-64BA-1390-DF8B061D1C40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9BE9BC-D0B9-6B55-AAAF-C2E5517F62AC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062B6-E175-EA1C-50B8-2FC76615A780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06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C3F0D67-56EE-C18C-A14E-0D423FA58B17}"/>
              </a:ext>
            </a:extLst>
          </p:cNvPr>
          <p:cNvCxnSpPr/>
          <p:nvPr/>
        </p:nvCxnSpPr>
        <p:spPr>
          <a:xfrm>
            <a:off x="1016000" y="3327400"/>
            <a:ext cx="10160000" cy="0"/>
          </a:xfrm>
          <a:prstGeom prst="line">
            <a:avLst/>
          </a:prstGeom>
          <a:ln w="508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D4BF5874-09E2-A8AB-45FE-17C17EF445D2}"/>
              </a:ext>
            </a:extLst>
          </p:cNvPr>
          <p:cNvSpPr/>
          <p:nvPr/>
        </p:nvSpPr>
        <p:spPr>
          <a:xfrm>
            <a:off x="1092200" y="3200400"/>
            <a:ext cx="254000" cy="254000"/>
          </a:xfrm>
          <a:prstGeom prst="ellipse">
            <a:avLst/>
          </a:prstGeom>
          <a:solidFill>
            <a:srgbClr val="5261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B9B1A-FB41-75CD-0FF2-9120F7044C2B}"/>
              </a:ext>
            </a:extLst>
          </p:cNvPr>
          <p:cNvSpPr txBox="1"/>
          <p:nvPr/>
        </p:nvSpPr>
        <p:spPr>
          <a:xfrm>
            <a:off x="1092200" y="3200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3AF57-B83A-5ED7-1228-20517AC981A8}"/>
              </a:ext>
            </a:extLst>
          </p:cNvPr>
          <p:cNvSpPr txBox="1"/>
          <p:nvPr/>
        </p:nvSpPr>
        <p:spPr>
          <a:xfrm>
            <a:off x="482600" y="20574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SESSION</a:t>
            </a:r>
          </a:p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START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367FE5-7DB4-B2C0-5C2E-D7E378781B9F}"/>
              </a:ext>
            </a:extLst>
          </p:cNvPr>
          <p:cNvSpPr txBox="1"/>
          <p:nvPr/>
        </p:nvSpPr>
        <p:spPr>
          <a:xfrm>
            <a:off x="520700" y="3733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rgbClr val="526171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526171"/>
                </a:solidFill>
                <a:latin typeface="맑은 고딕" panose="020B0503020000020004" pitchFamily="50" charset="-127"/>
              </a:rPr>
              <a:t>회 시작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5DDC15D-51F3-775C-04CB-6C6D3E9F1C2C}"/>
              </a:ext>
            </a:extLst>
          </p:cNvPr>
          <p:cNvSpPr/>
          <p:nvPr/>
        </p:nvSpPr>
        <p:spPr>
          <a:xfrm>
            <a:off x="2857500" y="3200400"/>
            <a:ext cx="254000" cy="254000"/>
          </a:xfrm>
          <a:prstGeom prst="ellipse">
            <a:avLst/>
          </a:prstGeom>
          <a:solidFill>
            <a:srgbClr val="176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A58DBC-7042-00F7-101F-47570A4B4D18}"/>
              </a:ext>
            </a:extLst>
          </p:cNvPr>
          <p:cNvSpPr txBox="1"/>
          <p:nvPr/>
        </p:nvSpPr>
        <p:spPr>
          <a:xfrm>
            <a:off x="2857500" y="3200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D22B9-436B-1F7F-41C2-55CE4FE5520A}"/>
              </a:ext>
            </a:extLst>
          </p:cNvPr>
          <p:cNvSpPr txBox="1"/>
          <p:nvPr/>
        </p:nvSpPr>
        <p:spPr>
          <a:xfrm>
            <a:off x="2247900" y="20574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음성 과제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C147B2-22B0-15AA-19AF-97FE89603E90}"/>
              </a:ext>
            </a:extLst>
          </p:cNvPr>
          <p:cNvSpPr txBox="1"/>
          <p:nvPr/>
        </p:nvSpPr>
        <p:spPr>
          <a:xfrm>
            <a:off x="2286000" y="3733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rgbClr val="526171"/>
                </a:solidFill>
                <a:latin typeface="맑은 고딕" panose="020B0503020000020004" pitchFamily="50" charset="-127"/>
              </a:rPr>
              <a:t>6~10 s</a:t>
            </a:r>
            <a:endParaRPr lang="ko-KR" altLang="en-US" sz="11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71E9647-1D18-226E-49B4-3CE90960E050}"/>
              </a:ext>
            </a:extLst>
          </p:cNvPr>
          <p:cNvSpPr/>
          <p:nvPr/>
        </p:nvSpPr>
        <p:spPr>
          <a:xfrm>
            <a:off x="4572000" y="3200400"/>
            <a:ext cx="254000" cy="254000"/>
          </a:xfrm>
          <a:prstGeom prst="ellipse">
            <a:avLst/>
          </a:prstGeom>
          <a:solidFill>
            <a:srgbClr val="E5A9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C7D641-995F-B03F-FB09-050B369E50D1}"/>
              </a:ext>
            </a:extLst>
          </p:cNvPr>
          <p:cNvSpPr txBox="1"/>
          <p:nvPr/>
        </p:nvSpPr>
        <p:spPr>
          <a:xfrm>
            <a:off x="4572000" y="3200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79F009-3BF5-EE16-15C7-CCCCD6610AB1}"/>
              </a:ext>
            </a:extLst>
          </p:cNvPr>
          <p:cNvSpPr txBox="1"/>
          <p:nvPr/>
        </p:nvSpPr>
        <p:spPr>
          <a:xfrm>
            <a:off x="3962400" y="20574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속도 </a:t>
            </a:r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gate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B82AC5-F187-94A4-6D66-8E453BD9AB6F}"/>
              </a:ext>
            </a:extLst>
          </p:cNvPr>
          <p:cNvSpPr txBox="1"/>
          <p:nvPr/>
        </p:nvSpPr>
        <p:spPr>
          <a:xfrm>
            <a:off x="4000500" y="3733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rgbClr val="526171"/>
                </a:solidFill>
                <a:latin typeface="맑은 고딕" panose="020B0503020000020004" pitchFamily="50" charset="-127"/>
              </a:rPr>
              <a:t>1.5 s </a:t>
            </a:r>
            <a:r>
              <a:rPr lang="ko-KR" altLang="en-US" sz="1100">
                <a:solidFill>
                  <a:srgbClr val="526171"/>
                </a:solidFill>
                <a:latin typeface="맑은 고딕" panose="020B0503020000020004" pitchFamily="50" charset="-127"/>
              </a:rPr>
              <a:t>유지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DFA81DB-7C09-8F01-F48D-79D52F5DC37E}"/>
              </a:ext>
            </a:extLst>
          </p:cNvPr>
          <p:cNvSpPr/>
          <p:nvPr/>
        </p:nvSpPr>
        <p:spPr>
          <a:xfrm>
            <a:off x="6286500" y="3200400"/>
            <a:ext cx="254000" cy="254000"/>
          </a:xfrm>
          <a:prstGeom prst="ellipse">
            <a:avLst/>
          </a:prstGeom>
          <a:solidFill>
            <a:srgbClr val="EF6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31F34E-4690-F088-921B-94026A9CD460}"/>
              </a:ext>
            </a:extLst>
          </p:cNvPr>
          <p:cNvSpPr txBox="1"/>
          <p:nvPr/>
        </p:nvSpPr>
        <p:spPr>
          <a:xfrm>
            <a:off x="6286500" y="3200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866966-9860-06C6-5968-E8ECFAC6C5E4}"/>
              </a:ext>
            </a:extLst>
          </p:cNvPr>
          <p:cNvSpPr txBox="1"/>
          <p:nvPr/>
        </p:nvSpPr>
        <p:spPr>
          <a:xfrm>
            <a:off x="5676900" y="20574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INTRUDER</a:t>
            </a:r>
          </a:p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SPAWN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4DFE8D-E478-12E6-DA88-69EA5257CA8A}"/>
              </a:ext>
            </a:extLst>
          </p:cNvPr>
          <p:cNvSpPr txBox="1"/>
          <p:nvPr/>
        </p:nvSpPr>
        <p:spPr>
          <a:xfrm>
            <a:off x="5715000" y="3733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rgbClr val="526171"/>
                </a:solidFill>
                <a:latin typeface="맑은 고딕" panose="020B0503020000020004" pitchFamily="50" charset="-127"/>
              </a:rPr>
              <a:t>7~13 px</a:t>
            </a:r>
            <a:endParaRPr lang="ko-KR" altLang="en-US" sz="11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1BDD32F-D944-1D30-EBE8-D84AC6401A82}"/>
              </a:ext>
            </a:extLst>
          </p:cNvPr>
          <p:cNvSpPr/>
          <p:nvPr/>
        </p:nvSpPr>
        <p:spPr>
          <a:xfrm>
            <a:off x="8001000" y="3200400"/>
            <a:ext cx="254000" cy="254000"/>
          </a:xfrm>
          <a:prstGeom prst="ellipse">
            <a:avLst/>
          </a:prstGeom>
          <a:solidFill>
            <a:srgbClr val="EF6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DF538E-A628-119F-FE34-94FAD59F1C55}"/>
              </a:ext>
            </a:extLst>
          </p:cNvPr>
          <p:cNvSpPr txBox="1"/>
          <p:nvPr/>
        </p:nvSpPr>
        <p:spPr>
          <a:xfrm>
            <a:off x="8001000" y="3200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C1D16E-25A8-CDE8-F7F0-D8CF84A8DAFD}"/>
              </a:ext>
            </a:extLst>
          </p:cNvPr>
          <p:cNvSpPr txBox="1"/>
          <p:nvPr/>
        </p:nvSpPr>
        <p:spPr>
          <a:xfrm>
            <a:off x="7391400" y="20574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시각적 기회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5CCC3F-B9B4-3BD2-D329-DE2F83D350CF}"/>
              </a:ext>
            </a:extLst>
          </p:cNvPr>
          <p:cNvSpPr txBox="1"/>
          <p:nvPr/>
        </p:nvSpPr>
        <p:spPr>
          <a:xfrm>
            <a:off x="7429500" y="3733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rgbClr val="526171"/>
                </a:solidFill>
                <a:latin typeface="맑은 고딕" panose="020B0503020000020004" pitchFamily="50" charset="-127"/>
              </a:rPr>
              <a:t>20 px</a:t>
            </a:r>
            <a:endParaRPr lang="ko-KR" altLang="en-US" sz="11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1A2BBFA-2135-326A-9875-7F5049CE434A}"/>
              </a:ext>
            </a:extLst>
          </p:cNvPr>
          <p:cNvSpPr/>
          <p:nvPr/>
        </p:nvSpPr>
        <p:spPr>
          <a:xfrm>
            <a:off x="9715500" y="3200400"/>
            <a:ext cx="254000" cy="254000"/>
          </a:xfrm>
          <a:prstGeom prst="ellipse">
            <a:avLst/>
          </a:prstGeom>
          <a:solidFill>
            <a:srgbClr val="2E9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10E2BC-B3E3-5662-2606-673544128150}"/>
              </a:ext>
            </a:extLst>
          </p:cNvPr>
          <p:cNvSpPr txBox="1"/>
          <p:nvPr/>
        </p:nvSpPr>
        <p:spPr>
          <a:xfrm>
            <a:off x="9715500" y="3200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57E8C7-706E-3245-370A-23E0529E5D0F}"/>
              </a:ext>
            </a:extLst>
          </p:cNvPr>
          <p:cNvSpPr txBox="1"/>
          <p:nvPr/>
        </p:nvSpPr>
        <p:spPr>
          <a:xfrm>
            <a:off x="9105900" y="20574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반응 검출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B7A0BE-DF9C-D493-483C-E36F347050D8}"/>
              </a:ext>
            </a:extLst>
          </p:cNvPr>
          <p:cNvSpPr txBox="1"/>
          <p:nvPr/>
        </p:nvSpPr>
        <p:spPr>
          <a:xfrm>
            <a:off x="9144000" y="3733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>
                <a:solidFill>
                  <a:srgbClr val="526171"/>
                </a:solidFill>
                <a:latin typeface="맑은 고딕" panose="020B0503020000020004" pitchFamily="50" charset="-127"/>
              </a:rPr>
              <a:t>지속 입력변화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E6536B2-9214-EE15-ADD4-EFDF6F7DFED7}"/>
              </a:ext>
            </a:extLst>
          </p:cNvPr>
          <p:cNvSpPr/>
          <p:nvPr/>
        </p:nvSpPr>
        <p:spPr>
          <a:xfrm>
            <a:off x="10896600" y="3200400"/>
            <a:ext cx="254000" cy="254000"/>
          </a:xfrm>
          <a:prstGeom prst="ellipse">
            <a:avLst/>
          </a:prstGeom>
          <a:solidFill>
            <a:srgbClr val="071B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ABBE15-55A7-9C8B-2E3D-B4ADA21B7A37}"/>
              </a:ext>
            </a:extLst>
          </p:cNvPr>
          <p:cNvSpPr txBox="1"/>
          <p:nvPr/>
        </p:nvSpPr>
        <p:spPr>
          <a:xfrm>
            <a:off x="10896600" y="32004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5EDF5B-236A-A34C-F6B8-536F7FD143F5}"/>
              </a:ext>
            </a:extLst>
          </p:cNvPr>
          <p:cNvSpPr txBox="1"/>
          <p:nvPr/>
        </p:nvSpPr>
        <p:spPr>
          <a:xfrm>
            <a:off x="10287000" y="20574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WASHOUT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CD1242-1FC6-D502-3211-69736771A0AF}"/>
              </a:ext>
            </a:extLst>
          </p:cNvPr>
          <p:cNvSpPr txBox="1"/>
          <p:nvPr/>
        </p:nvSpPr>
        <p:spPr>
          <a:xfrm>
            <a:off x="10325100" y="3733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rgbClr val="526171"/>
                </a:solidFill>
                <a:latin typeface="맑은 고딕" panose="020B0503020000020004" pitchFamily="50" charset="-127"/>
              </a:rPr>
              <a:t>10~15 s</a:t>
            </a:r>
            <a:endParaRPr lang="ko-KR" altLang="en-US" sz="11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0A25414-85EB-BE3C-14E1-BEDA12B9516C}"/>
              </a:ext>
            </a:extLst>
          </p:cNvPr>
          <p:cNvSpPr/>
          <p:nvPr/>
        </p:nvSpPr>
        <p:spPr>
          <a:xfrm>
            <a:off x="1219200" y="4419600"/>
            <a:ext cx="9753600" cy="889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C25D4B-E452-761E-B7D6-B30EEACE96B5}"/>
              </a:ext>
            </a:extLst>
          </p:cNvPr>
          <p:cNvSpPr txBox="1"/>
          <p:nvPr/>
        </p:nvSpPr>
        <p:spPr>
          <a:xfrm>
            <a:off x="1587500" y="4597400"/>
            <a:ext cx="901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FRONT 2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회  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  LEFT 2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회  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  RIGHT 2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회    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/    trial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사이 자세 안정 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3 s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확인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8B8475-0AC0-BDA8-F3FD-684FEAB1F6B7}"/>
              </a:ext>
            </a:extLst>
          </p:cNvPr>
          <p:cNvSpPr txBox="1"/>
          <p:nvPr/>
        </p:nvSpPr>
        <p:spPr>
          <a:xfrm>
            <a:off x="1651000" y="49657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>
                <a:solidFill>
                  <a:srgbClr val="526171"/>
                </a:solidFill>
                <a:latin typeface="맑은 고딕" panose="020B0503020000020004" pitchFamily="50" charset="-127"/>
              </a:rPr>
              <a:t>초기상황 </a:t>
            </a:r>
            <a:r>
              <a:rPr lang="en-US" altLang="ko-KR" sz="1200">
                <a:solidFill>
                  <a:srgbClr val="526171"/>
                </a:solidFill>
                <a:latin typeface="맑은 고딕" panose="020B0503020000020004" pitchFamily="50" charset="-127"/>
              </a:rPr>
              <a:t>reload </a:t>
            </a:r>
            <a:r>
              <a:rPr lang="ko-KR" altLang="en-US" sz="1200">
                <a:solidFill>
                  <a:srgbClr val="526171"/>
                </a:solidFill>
                <a:latin typeface="맑은 고딕" panose="020B0503020000020004" pitchFamily="50" charset="-127"/>
              </a:rPr>
              <a:t>없이 최종접근을 계속하며 반복 → 실제 운용 흐름을 덜 끊는 실험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81541E2-DAE0-F967-137E-6B2006279312}"/>
              </a:ext>
            </a:extLst>
          </p:cNvPr>
          <p:cNvSpPr/>
          <p:nvPr/>
        </p:nvSpPr>
        <p:spPr>
          <a:xfrm>
            <a:off x="10033000" y="1422400"/>
            <a:ext cx="1524000" cy="304800"/>
          </a:xfrm>
          <a:prstGeom prst="round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6C1E93-9FA0-C45B-2C54-6F0940E51BA5}"/>
              </a:ext>
            </a:extLst>
          </p:cNvPr>
          <p:cNvSpPr txBox="1"/>
          <p:nvPr/>
        </p:nvSpPr>
        <p:spPr>
          <a:xfrm>
            <a:off x="10134600" y="14351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현재 구현</a:t>
            </a:r>
          </a:p>
        </p:txBody>
      </p:sp>
    </p:spTree>
    <p:extLst>
      <p:ext uri="{BB962C8B-B14F-4D97-AF65-F5344CB8AC3E}">
        <p14:creationId xmlns:p14="http://schemas.microsoft.com/office/powerpoint/2010/main" val="384218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75157B-EA61-EDF9-D70E-EC137ECB1C5C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03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구현 프레임워크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BFB54-5DFC-7A48-A839-4BDB3526485D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‘보였을 때’와 ‘인지했을 때’를 구분했습니다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41A5896-DCE0-1371-D483-696864C03536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41A03F5-146C-D604-52CE-F5B6913BADC3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2DA58-5084-1844-A996-6E7418A72618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07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ED9D7E0-1B12-F527-4066-ADA6071DC20E}"/>
              </a:ext>
            </a:extLst>
          </p:cNvPr>
          <p:cNvCxnSpPr/>
          <p:nvPr/>
        </p:nvCxnSpPr>
        <p:spPr>
          <a:xfrm>
            <a:off x="1651000" y="2032000"/>
            <a:ext cx="9144000" cy="0"/>
          </a:xfrm>
          <a:prstGeom prst="line">
            <a:avLst/>
          </a:prstGeom>
          <a:ln w="254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35FAE2-79A3-3B80-7839-07E38324638E}"/>
              </a:ext>
            </a:extLst>
          </p:cNvPr>
          <p:cNvCxnSpPr/>
          <p:nvPr/>
        </p:nvCxnSpPr>
        <p:spPr>
          <a:xfrm>
            <a:off x="1651000" y="2984500"/>
            <a:ext cx="9144000" cy="0"/>
          </a:xfrm>
          <a:prstGeom prst="line">
            <a:avLst/>
          </a:prstGeom>
          <a:ln w="254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1942D08-FB06-AF74-C8F4-8760E590187F}"/>
              </a:ext>
            </a:extLst>
          </p:cNvPr>
          <p:cNvCxnSpPr/>
          <p:nvPr/>
        </p:nvCxnSpPr>
        <p:spPr>
          <a:xfrm>
            <a:off x="1651000" y="3937000"/>
            <a:ext cx="9144000" cy="0"/>
          </a:xfrm>
          <a:prstGeom prst="line">
            <a:avLst/>
          </a:prstGeom>
          <a:ln w="254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8DE19EE-7A1A-7D2E-0232-952D75778888}"/>
              </a:ext>
            </a:extLst>
          </p:cNvPr>
          <p:cNvCxnSpPr/>
          <p:nvPr/>
        </p:nvCxnSpPr>
        <p:spPr>
          <a:xfrm>
            <a:off x="1651000" y="4889500"/>
            <a:ext cx="9144000" cy="0"/>
          </a:xfrm>
          <a:prstGeom prst="line">
            <a:avLst/>
          </a:prstGeom>
          <a:ln w="254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8E1B024-03CD-DA92-1727-C603BC328E0E}"/>
              </a:ext>
            </a:extLst>
          </p:cNvPr>
          <p:cNvSpPr txBox="1"/>
          <p:nvPr/>
        </p:nvSpPr>
        <p:spPr>
          <a:xfrm>
            <a:off x="635000" y="1841500"/>
            <a:ext cx="82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500" b="1">
                <a:solidFill>
                  <a:srgbClr val="526171"/>
                </a:solidFill>
                <a:latin typeface="맑은 고딕" panose="020B0503020000020004" pitchFamily="50" charset="-127"/>
              </a:rPr>
              <a:t>상황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CC7350-2FF7-5AE5-8CC1-41CCCCA9F4F2}"/>
              </a:ext>
            </a:extLst>
          </p:cNvPr>
          <p:cNvSpPr txBox="1"/>
          <p:nvPr/>
        </p:nvSpPr>
        <p:spPr>
          <a:xfrm>
            <a:off x="635000" y="2794000"/>
            <a:ext cx="82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500" b="1">
                <a:solidFill>
                  <a:srgbClr val="526171"/>
                </a:solidFill>
                <a:latin typeface="맑은 고딕" panose="020B0503020000020004" pitchFamily="50" charset="-127"/>
              </a:rPr>
              <a:t>화면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CB554A-7AD2-F842-593C-08FB62853051}"/>
              </a:ext>
            </a:extLst>
          </p:cNvPr>
          <p:cNvSpPr txBox="1"/>
          <p:nvPr/>
        </p:nvSpPr>
        <p:spPr>
          <a:xfrm>
            <a:off x="635000" y="3746500"/>
            <a:ext cx="82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500" b="1">
                <a:solidFill>
                  <a:srgbClr val="526171"/>
                </a:solidFill>
                <a:latin typeface="맑은 고딕" panose="020B0503020000020004" pitchFamily="50" charset="-127"/>
              </a:rPr>
              <a:t>조작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2F2E34-97D0-B064-8807-EF646F50EE89}"/>
              </a:ext>
            </a:extLst>
          </p:cNvPr>
          <p:cNvSpPr txBox="1"/>
          <p:nvPr/>
        </p:nvSpPr>
        <p:spPr>
          <a:xfrm>
            <a:off x="635000" y="4699000"/>
            <a:ext cx="82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500" b="1">
                <a:solidFill>
                  <a:srgbClr val="526171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D972AA0-EDD1-26E6-0077-E723B4DCEB85}"/>
              </a:ext>
            </a:extLst>
          </p:cNvPr>
          <p:cNvSpPr/>
          <p:nvPr/>
        </p:nvSpPr>
        <p:spPr>
          <a:xfrm>
            <a:off x="3098800" y="1828800"/>
            <a:ext cx="406400" cy="406400"/>
          </a:xfrm>
          <a:prstGeom prst="ellipse">
            <a:avLst/>
          </a:prstGeom>
          <a:solidFill>
            <a:srgbClr val="EF6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EE3200-E0CE-A27E-8756-918C5E50C39D}"/>
              </a:ext>
            </a:extLst>
          </p:cNvPr>
          <p:cNvSpPr txBox="1"/>
          <p:nvPr/>
        </p:nvSpPr>
        <p:spPr>
          <a:xfrm>
            <a:off x="3098800" y="18288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ED7AB6-D024-228A-5496-ED8BD998ACA1}"/>
              </a:ext>
            </a:extLst>
          </p:cNvPr>
          <p:cNvSpPr txBox="1"/>
          <p:nvPr/>
        </p:nvSpPr>
        <p:spPr>
          <a:xfrm>
            <a:off x="2692400" y="2260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SPAWN</a:t>
            </a:r>
          </a:p>
          <a:p>
            <a:pPr algn="ctr"/>
            <a:r>
              <a:rPr lang="ko-KR" altLang="en-US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상황 노출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620C09C-54AC-017E-91A6-29F7864FBD1F}"/>
              </a:ext>
            </a:extLst>
          </p:cNvPr>
          <p:cNvSpPr/>
          <p:nvPr/>
        </p:nvSpPr>
        <p:spPr>
          <a:xfrm>
            <a:off x="5765800" y="2781300"/>
            <a:ext cx="406400" cy="406400"/>
          </a:xfrm>
          <a:prstGeom prst="ellipse">
            <a:avLst/>
          </a:prstGeom>
          <a:solidFill>
            <a:srgbClr val="E5A9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6026DB-D288-F83C-645F-D98246582A8A}"/>
              </a:ext>
            </a:extLst>
          </p:cNvPr>
          <p:cNvSpPr txBox="1"/>
          <p:nvPr/>
        </p:nvSpPr>
        <p:spPr>
          <a:xfrm>
            <a:off x="5765800" y="27813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602F15-FFAA-DCBA-D552-0C4E4BB96D9C}"/>
              </a:ext>
            </a:extLst>
          </p:cNvPr>
          <p:cNvSpPr txBox="1"/>
          <p:nvPr/>
        </p:nvSpPr>
        <p:spPr>
          <a:xfrm>
            <a:off x="5308600" y="32131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E5A93D"/>
                </a:solidFill>
                <a:latin typeface="맑은 고딕" panose="020B0503020000020004" pitchFamily="50" charset="-127"/>
              </a:rPr>
              <a:t>20 px</a:t>
            </a:r>
          </a:p>
          <a:p>
            <a:pPr algn="ctr"/>
            <a:r>
              <a:rPr lang="ko-KR" altLang="en-US" sz="1300" b="1">
                <a:solidFill>
                  <a:srgbClr val="E5A93D"/>
                </a:solidFill>
                <a:latin typeface="맑은 고딕" panose="020B0503020000020004" pitchFamily="50" charset="-127"/>
              </a:rPr>
              <a:t>시각적 기회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FA579E3-1ABC-7946-3E44-88E26D9F850B}"/>
              </a:ext>
            </a:extLst>
          </p:cNvPr>
          <p:cNvSpPr/>
          <p:nvPr/>
        </p:nvSpPr>
        <p:spPr>
          <a:xfrm>
            <a:off x="7429500" y="2781300"/>
            <a:ext cx="406400" cy="406400"/>
          </a:xfrm>
          <a:prstGeom prst="ellipse">
            <a:avLst/>
          </a:prstGeom>
          <a:solidFill>
            <a:srgbClr val="5261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CD8B25-3F1F-D4A3-7424-E939478F281D}"/>
              </a:ext>
            </a:extLst>
          </p:cNvPr>
          <p:cNvSpPr txBox="1"/>
          <p:nvPr/>
        </p:nvSpPr>
        <p:spPr>
          <a:xfrm>
            <a:off x="7429500" y="27813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?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FDBD1A-AD78-2B37-1EAF-00EAE8CDAD72}"/>
              </a:ext>
            </a:extLst>
          </p:cNvPr>
          <p:cNvSpPr txBox="1"/>
          <p:nvPr/>
        </p:nvSpPr>
        <p:spPr>
          <a:xfrm>
            <a:off x="6959600" y="32131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526171"/>
                </a:solidFill>
                <a:latin typeface="맑은 고딕" panose="020B0503020000020004" pitchFamily="50" charset="-127"/>
              </a:rPr>
              <a:t>실제 인지</a:t>
            </a:r>
          </a:p>
          <a:p>
            <a:pPr algn="ctr"/>
            <a:r>
              <a:rPr lang="ko-KR" altLang="en-US" sz="1300" b="1">
                <a:solidFill>
                  <a:srgbClr val="526171"/>
                </a:solidFill>
                <a:latin typeface="맑은 고딕" panose="020B0503020000020004" pitchFamily="50" charset="-127"/>
              </a:rPr>
              <a:t>현재 미측정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E5A3B08-F2F7-E373-118C-5225EB0A5D82}"/>
              </a:ext>
            </a:extLst>
          </p:cNvPr>
          <p:cNvSpPr/>
          <p:nvPr/>
        </p:nvSpPr>
        <p:spPr>
          <a:xfrm>
            <a:off x="9144000" y="3733800"/>
            <a:ext cx="406400" cy="406400"/>
          </a:xfrm>
          <a:prstGeom prst="ellipse">
            <a:avLst/>
          </a:prstGeom>
          <a:solidFill>
            <a:srgbClr val="2E9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AFCFA4-7E17-3A74-4077-588F8C91B53A}"/>
              </a:ext>
            </a:extLst>
          </p:cNvPr>
          <p:cNvSpPr txBox="1"/>
          <p:nvPr/>
        </p:nvSpPr>
        <p:spPr>
          <a:xfrm>
            <a:off x="9144000" y="37338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74C1E7-0B9D-C935-8877-D57F26EDDCE7}"/>
              </a:ext>
            </a:extLst>
          </p:cNvPr>
          <p:cNvSpPr txBox="1"/>
          <p:nvPr/>
        </p:nvSpPr>
        <p:spPr>
          <a:xfrm>
            <a:off x="8572500" y="4165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2E9E6F"/>
                </a:solidFill>
                <a:latin typeface="맑은 고딕" panose="020B0503020000020004" pitchFamily="50" charset="-127"/>
              </a:rPr>
              <a:t>지속 입력변화</a:t>
            </a:r>
          </a:p>
          <a:p>
            <a:pPr algn="ctr"/>
            <a:r>
              <a:rPr lang="ko-KR" altLang="en-US" sz="1300" b="1">
                <a:solidFill>
                  <a:srgbClr val="2E9E6F"/>
                </a:solidFill>
                <a:latin typeface="맑은 고딕" panose="020B0503020000020004" pitchFamily="50" charset="-127"/>
              </a:rPr>
              <a:t>반응 </a:t>
            </a:r>
            <a:r>
              <a:rPr lang="en-US" altLang="ko-KR" sz="1300" b="1">
                <a:solidFill>
                  <a:srgbClr val="2E9E6F"/>
                </a:solidFill>
                <a:latin typeface="맑은 고딕" panose="020B0503020000020004" pitchFamily="50" charset="-127"/>
              </a:rPr>
              <a:t>event</a:t>
            </a:r>
            <a:endParaRPr lang="ko-KR" altLang="en-US" sz="1300" b="1">
              <a:solidFill>
                <a:srgbClr val="2E9E6F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1E04BE-CB6B-D7CB-6D74-BD83AEF6CB67}"/>
              </a:ext>
            </a:extLst>
          </p:cNvPr>
          <p:cNvCxnSpPr/>
          <p:nvPr/>
        </p:nvCxnSpPr>
        <p:spPr>
          <a:xfrm>
            <a:off x="5969000" y="5143500"/>
            <a:ext cx="3378200" cy="0"/>
          </a:xfrm>
          <a:prstGeom prst="line">
            <a:avLst/>
          </a:prstGeom>
          <a:ln w="50800">
            <a:solidFill>
              <a:srgbClr val="1769A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4D17DA2-A409-DFBB-D2C1-B23249297239}"/>
              </a:ext>
            </a:extLst>
          </p:cNvPr>
          <p:cNvSpPr txBox="1"/>
          <p:nvPr/>
        </p:nvSpPr>
        <p:spPr>
          <a:xfrm>
            <a:off x="5334000" y="54229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700" b="1">
                <a:solidFill>
                  <a:srgbClr val="1769AA"/>
                </a:solidFill>
                <a:latin typeface="맑은 고딕" panose="020B0503020000020004" pitchFamily="50" charset="-127"/>
              </a:rPr>
              <a:t>운용 반응시간 </a:t>
            </a:r>
            <a:r>
              <a:rPr lang="en-US" altLang="ko-KR" sz="1700" b="1">
                <a:solidFill>
                  <a:srgbClr val="1769AA"/>
                </a:solidFill>
                <a:latin typeface="맑은 고딕" panose="020B0503020000020004" pitchFamily="50" charset="-127"/>
              </a:rPr>
              <a:t>L = t_response − t_opportunity</a:t>
            </a:r>
            <a:endParaRPr lang="ko-KR" altLang="en-US" sz="1700" b="1">
              <a:solidFill>
                <a:srgbClr val="1769A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F3DB15D-522F-2DDC-F696-47BEC8C675DC}"/>
              </a:ext>
            </a:extLst>
          </p:cNvPr>
          <p:cNvSpPr/>
          <p:nvPr/>
        </p:nvSpPr>
        <p:spPr>
          <a:xfrm>
            <a:off x="1524000" y="5816600"/>
            <a:ext cx="9271000" cy="4318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8C0978-FC09-56DA-145C-F12389D24EF6}"/>
              </a:ext>
            </a:extLst>
          </p:cNvPr>
          <p:cNvSpPr txBox="1"/>
          <p:nvPr/>
        </p:nvSpPr>
        <p:spPr>
          <a:xfrm>
            <a:off x="1841500" y="59055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20 px</a:t>
            </a:r>
            <a:r>
              <a:rPr lang="ko-KR" altLang="en-US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는 반복 가능한 분석 기준이며</a:t>
            </a:r>
            <a:r>
              <a:rPr lang="en-US" altLang="ko-KR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조종사가 실제로 위협을 인지한 시점이라는 뜻은 아닙니다</a:t>
            </a:r>
            <a:r>
              <a:rPr lang="en-US" altLang="ko-KR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 b="1">
              <a:solidFill>
                <a:srgbClr val="EF6555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9580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7B2CD-0515-0329-3254-F1F727DF46A0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04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시선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3CCCA-ACBE-2BFD-E123-AF4C5BBA1162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고정 계기 </a:t>
            </a:r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AOI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와 움직이는 외부 </a:t>
            </a:r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AOI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를 함께 사용합니다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B61771E-5419-50A0-68EE-360B1CD9C557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1F2E1EF-2AD6-672E-C341-B92F46C31383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FB0F7-551F-024E-98FE-03CCB80FBB66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08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35F8A4-D5A2-5932-E1DD-5DC472973D8A}"/>
              </a:ext>
            </a:extLst>
          </p:cNvPr>
          <p:cNvSpPr/>
          <p:nvPr/>
        </p:nvSpPr>
        <p:spPr>
          <a:xfrm>
            <a:off x="482600" y="1600200"/>
            <a:ext cx="7315200" cy="414020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71B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84BB427-7C44-AFB8-0EF8-9BB582EE64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52523"/>
            <a:ext cx="7213600" cy="4035554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750C6B5-E51C-0656-63F9-FFF0C8CDF8A6}"/>
              </a:ext>
            </a:extLst>
          </p:cNvPr>
          <p:cNvSpPr/>
          <p:nvPr/>
        </p:nvSpPr>
        <p:spPr>
          <a:xfrm>
            <a:off x="736600" y="1790700"/>
            <a:ext cx="1625600" cy="304800"/>
          </a:xfrm>
          <a:prstGeom prst="round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DB3463-A915-F181-F617-77A54C7DE701}"/>
              </a:ext>
            </a:extLst>
          </p:cNvPr>
          <p:cNvSpPr txBox="1"/>
          <p:nvPr/>
        </p:nvSpPr>
        <p:spPr>
          <a:xfrm>
            <a:off x="838200" y="18034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고정 계기 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AOI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BC56BEE-DBD6-C1BA-F0CF-1BB5AAC46ED5}"/>
              </a:ext>
            </a:extLst>
          </p:cNvPr>
          <p:cNvSpPr/>
          <p:nvPr/>
        </p:nvSpPr>
        <p:spPr>
          <a:xfrm>
            <a:off x="8128000" y="1625600"/>
            <a:ext cx="3479800" cy="11684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AB1230-466A-D426-0894-2F78FC716B51}"/>
              </a:ext>
            </a:extLst>
          </p:cNvPr>
          <p:cNvSpPr/>
          <p:nvPr/>
        </p:nvSpPr>
        <p:spPr>
          <a:xfrm>
            <a:off x="8128000" y="1625600"/>
            <a:ext cx="88900" cy="11684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D9E50-4E73-4363-D077-3B92D4E78C95}"/>
              </a:ext>
            </a:extLst>
          </p:cNvPr>
          <p:cNvSpPr txBox="1"/>
          <p:nvPr/>
        </p:nvSpPr>
        <p:spPr>
          <a:xfrm>
            <a:off x="8382000" y="1803400"/>
            <a:ext cx="3035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>
                <a:solidFill>
                  <a:srgbClr val="071B33"/>
                </a:solidFill>
                <a:latin typeface="맑은 고딕" panose="020B0503020000020004" pitchFamily="50" charset="-127"/>
              </a:rPr>
              <a:t>계기</a:t>
            </a:r>
            <a:r>
              <a:rPr lang="en-US" altLang="ko-KR" sz="15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071B33"/>
                </a:solidFill>
                <a:latin typeface="맑은 고딕" panose="020B0503020000020004" pitchFamily="50" charset="-127"/>
              </a:rPr>
              <a:t>패널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79F153-FB3C-D932-4C9A-B2A357CE592F}"/>
              </a:ext>
            </a:extLst>
          </p:cNvPr>
          <p:cNvSpPr txBox="1"/>
          <p:nvPr/>
        </p:nvSpPr>
        <p:spPr>
          <a:xfrm>
            <a:off x="8382000" y="2260600"/>
            <a:ext cx="3035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Airspeed / Attitude / Altitude</a:t>
            </a:r>
          </a:p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Heading / Vertical speed / NAV</a:t>
            </a:r>
            <a:endParaRPr lang="ko-KR" altLang="en-US" sz="12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BF2EECA-D862-62B6-65E8-9B1B405FF9F7}"/>
              </a:ext>
            </a:extLst>
          </p:cNvPr>
          <p:cNvSpPr/>
          <p:nvPr/>
        </p:nvSpPr>
        <p:spPr>
          <a:xfrm>
            <a:off x="8128000" y="2921000"/>
            <a:ext cx="3479800" cy="11684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9DF8FE-C740-63A3-7182-47C81003E7B0}"/>
              </a:ext>
            </a:extLst>
          </p:cNvPr>
          <p:cNvSpPr/>
          <p:nvPr/>
        </p:nvSpPr>
        <p:spPr>
          <a:xfrm>
            <a:off x="8128000" y="2921000"/>
            <a:ext cx="88900" cy="1168400"/>
          </a:xfrm>
          <a:prstGeom prst="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E9B4D5-44EA-9CE5-767C-AF501644F209}"/>
              </a:ext>
            </a:extLst>
          </p:cNvPr>
          <p:cNvSpPr txBox="1"/>
          <p:nvPr/>
        </p:nvSpPr>
        <p:spPr>
          <a:xfrm>
            <a:off x="8382000" y="3098800"/>
            <a:ext cx="3035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>
                <a:solidFill>
                  <a:srgbClr val="071B33"/>
                </a:solidFill>
                <a:latin typeface="맑은 고딕" panose="020B0503020000020004" pitchFamily="50" charset="-127"/>
              </a:rPr>
              <a:t>침입기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A74904-195E-388E-4969-1FB4A3925CCF}"/>
              </a:ext>
            </a:extLst>
          </p:cNvPr>
          <p:cNvSpPr txBox="1"/>
          <p:nvPr/>
        </p:nvSpPr>
        <p:spPr>
          <a:xfrm>
            <a:off x="8382000" y="3556000"/>
            <a:ext cx="3035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172536"/>
                </a:solidFill>
                <a:latin typeface="맑은 고딕" panose="020B0503020000020004" pitchFamily="50" charset="-127"/>
              </a:rPr>
              <a:t>매 순간 화면 좌표와 크기를 계산하는 동적 </a:t>
            </a:r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AOI</a:t>
            </a:r>
            <a:endParaRPr lang="ko-KR" altLang="en-US" sz="12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7614438-3208-8487-D733-4B8AD3133137}"/>
              </a:ext>
            </a:extLst>
          </p:cNvPr>
          <p:cNvSpPr/>
          <p:nvPr/>
        </p:nvSpPr>
        <p:spPr>
          <a:xfrm>
            <a:off x="8128000" y="4216400"/>
            <a:ext cx="3479800" cy="11684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3D8D57-0C2E-4B33-CE03-5DE83D3123E4}"/>
              </a:ext>
            </a:extLst>
          </p:cNvPr>
          <p:cNvSpPr/>
          <p:nvPr/>
        </p:nvSpPr>
        <p:spPr>
          <a:xfrm>
            <a:off x="8128000" y="4216400"/>
            <a:ext cx="88900" cy="1168400"/>
          </a:xfrm>
          <a:prstGeom prst="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738EB-0E2F-8F5F-CC61-5DFB0142A74B}"/>
              </a:ext>
            </a:extLst>
          </p:cNvPr>
          <p:cNvSpPr txBox="1"/>
          <p:nvPr/>
        </p:nvSpPr>
        <p:spPr>
          <a:xfrm>
            <a:off x="8382000" y="4394200"/>
            <a:ext cx="3035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>
                <a:solidFill>
                  <a:srgbClr val="071B33"/>
                </a:solidFill>
                <a:latin typeface="맑은 고딕" panose="020B0503020000020004" pitchFamily="50" charset="-127"/>
              </a:rPr>
              <a:t>활주로</a:t>
            </a:r>
            <a:r>
              <a:rPr lang="en-US" altLang="ko-KR" sz="15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071B33"/>
                </a:solidFill>
                <a:latin typeface="맑은 고딕" panose="020B0503020000020004" pitchFamily="50" charset="-127"/>
              </a:rPr>
              <a:t>외부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054F9E-E6DC-F8D2-9268-196F3AE239DE}"/>
              </a:ext>
            </a:extLst>
          </p:cNvPr>
          <p:cNvSpPr txBox="1"/>
          <p:nvPr/>
        </p:nvSpPr>
        <p:spPr>
          <a:xfrm>
            <a:off x="8382000" y="4851400"/>
            <a:ext cx="3035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Runway polygon + monitor grid + </a:t>
            </a:r>
            <a:r>
              <a:rPr lang="ko-KR" altLang="en-US" sz="1200">
                <a:solidFill>
                  <a:srgbClr val="172536"/>
                </a:solidFill>
                <a:latin typeface="맑은 고딕" panose="020B0503020000020004" pitchFamily="50" charset="-127"/>
              </a:rPr>
              <a:t>기타 외부환경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9B625A5-1C8F-2872-5FA7-AAC1775490DD}"/>
              </a:ext>
            </a:extLst>
          </p:cNvPr>
          <p:cNvSpPr/>
          <p:nvPr/>
        </p:nvSpPr>
        <p:spPr>
          <a:xfrm>
            <a:off x="8102600" y="5562600"/>
            <a:ext cx="3530600" cy="533400"/>
          </a:xfrm>
          <a:prstGeom prst="roundRect">
            <a:avLst/>
          </a:prstGeom>
          <a:solidFill>
            <a:srgbClr val="FFF6DF"/>
          </a:solidFill>
          <a:ln w="12700">
            <a:solidFill>
              <a:srgbClr val="E5A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0B303E-196E-C529-AFBE-9E29477B913D}"/>
              </a:ext>
            </a:extLst>
          </p:cNvPr>
          <p:cNvSpPr txBox="1"/>
          <p:nvPr/>
        </p:nvSpPr>
        <p:spPr>
          <a:xfrm>
            <a:off x="8255000" y="56896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E5A93D"/>
                </a:solidFill>
                <a:latin typeface="맑은 고딕" panose="020B0503020000020004" pitchFamily="50" charset="-127"/>
              </a:rPr>
              <a:t>45 px </a:t>
            </a:r>
            <a:r>
              <a:rPr lang="ko-KR" altLang="en-US" sz="1100" b="1">
                <a:solidFill>
                  <a:srgbClr val="E5A93D"/>
                </a:solidFill>
                <a:latin typeface="맑은 고딕" panose="020B0503020000020004" pitchFamily="50" charset="-127"/>
              </a:rPr>
              <a:t>여유폭은 잠정값 → 표적시선 검증 필요</a:t>
            </a:r>
          </a:p>
        </p:txBody>
      </p:sp>
    </p:spTree>
    <p:extLst>
      <p:ext uri="{BB962C8B-B14F-4D97-AF65-F5344CB8AC3E}">
        <p14:creationId xmlns:p14="http://schemas.microsoft.com/office/powerpoint/2010/main" val="2802471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48D9C5-2EF8-D310-A48A-1B4391ED6149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04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시선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6BEEA-5AC4-66F0-765A-3712BE75AA7B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Matrix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는 ‘다음에 어디를 볼 확률’을 요약합니다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A86EF-10BE-72B2-A811-1F94010C8461}"/>
              </a:ext>
            </a:extLst>
          </p:cNvPr>
          <p:cNvSpPr txBox="1"/>
          <p:nvPr/>
        </p:nvSpPr>
        <p:spPr>
          <a:xfrm>
            <a:off x="533400" y="1117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행은 현재 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AOI, </a:t>
            </a:r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열은 다음 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200 ms AOI</a:t>
            </a:r>
            <a:endParaRPr lang="ko-KR" altLang="en-US" sz="13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2D66646-4CEC-24AE-95DA-BDF652D5B6F8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2F9B0A-BB47-D493-C648-D2829AE8632D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FD2AC-425D-8A32-6BF3-87E62E0C5318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09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22509D7-34ED-3FA6-FDFC-EA41B6FD00FF}"/>
              </a:ext>
            </a:extLst>
          </p:cNvPr>
          <p:cNvSpPr/>
          <p:nvPr/>
        </p:nvSpPr>
        <p:spPr>
          <a:xfrm>
            <a:off x="533400" y="1587500"/>
            <a:ext cx="6350000" cy="441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BA3D7B-E3DA-857C-D1B6-A36121EFBFC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722" y="1663700"/>
            <a:ext cx="4475356" cy="4267200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C46D43A-5BA1-7B80-38C0-33A80F3445A4}"/>
              </a:ext>
            </a:extLst>
          </p:cNvPr>
          <p:cNvSpPr/>
          <p:nvPr/>
        </p:nvSpPr>
        <p:spPr>
          <a:xfrm>
            <a:off x="7302500" y="1676400"/>
            <a:ext cx="4292600" cy="12065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67F707-4A52-2FA1-B631-82162B1DBEED}"/>
              </a:ext>
            </a:extLst>
          </p:cNvPr>
          <p:cNvSpPr/>
          <p:nvPr/>
        </p:nvSpPr>
        <p:spPr>
          <a:xfrm>
            <a:off x="7302500" y="1676400"/>
            <a:ext cx="88900" cy="12065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44D70-CC03-9CF3-44DE-528E3153AA3B}"/>
              </a:ext>
            </a:extLst>
          </p:cNvPr>
          <p:cNvSpPr txBox="1"/>
          <p:nvPr/>
        </p:nvSpPr>
        <p:spPr>
          <a:xfrm>
            <a:off x="7556500" y="1854200"/>
            <a:ext cx="3848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대각선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F00EB-6A1A-441F-85F7-E0312D12B207}"/>
              </a:ext>
            </a:extLst>
          </p:cNvPr>
          <p:cNvSpPr txBox="1"/>
          <p:nvPr/>
        </p:nvSpPr>
        <p:spPr>
          <a:xfrm>
            <a:off x="7556500" y="2311400"/>
            <a:ext cx="3848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같은 영역을 계속 본 확률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예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: INTRUDER→INTRUDER 0.79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74D7A28-4FD6-8C24-018D-F1EDE31B835B}"/>
              </a:ext>
            </a:extLst>
          </p:cNvPr>
          <p:cNvSpPr/>
          <p:nvPr/>
        </p:nvSpPr>
        <p:spPr>
          <a:xfrm>
            <a:off x="7302500" y="3048000"/>
            <a:ext cx="4292600" cy="12065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341C8C8-907B-0203-4003-95BAA76D1878}"/>
              </a:ext>
            </a:extLst>
          </p:cNvPr>
          <p:cNvSpPr/>
          <p:nvPr/>
        </p:nvSpPr>
        <p:spPr>
          <a:xfrm>
            <a:off x="7302500" y="3048000"/>
            <a:ext cx="88900" cy="1206500"/>
          </a:xfrm>
          <a:prstGeom prst="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2052E9-E093-547A-23C2-624CE7344BB9}"/>
              </a:ext>
            </a:extLst>
          </p:cNvPr>
          <p:cNvSpPr txBox="1"/>
          <p:nvPr/>
        </p:nvSpPr>
        <p:spPr>
          <a:xfrm>
            <a:off x="7556500" y="3225800"/>
            <a:ext cx="3848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비대각선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0FBAF5-81B6-6182-4D1E-6D4EF6CC403F}"/>
              </a:ext>
            </a:extLst>
          </p:cNvPr>
          <p:cNvSpPr txBox="1"/>
          <p:nvPr/>
        </p:nvSpPr>
        <p:spPr>
          <a:xfrm>
            <a:off x="7556500" y="3683000"/>
            <a:ext cx="3848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다른 영역으로 시선을 옮긴 확률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예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: AIRSPEED→PANEL_OTHER 0.36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B44E0D7-1295-9CC1-5441-991FB308AB26}"/>
              </a:ext>
            </a:extLst>
          </p:cNvPr>
          <p:cNvSpPr/>
          <p:nvPr/>
        </p:nvSpPr>
        <p:spPr>
          <a:xfrm>
            <a:off x="7302500" y="4419600"/>
            <a:ext cx="4292600" cy="12065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EEB7D7-5B97-911F-9F7C-1AC5098C24A4}"/>
              </a:ext>
            </a:extLst>
          </p:cNvPr>
          <p:cNvSpPr/>
          <p:nvPr/>
        </p:nvSpPr>
        <p:spPr>
          <a:xfrm>
            <a:off x="7302500" y="4419600"/>
            <a:ext cx="88900" cy="1206500"/>
          </a:xfrm>
          <a:prstGeom prst="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250601-9651-12AC-40AE-6F2051B30A7A}"/>
              </a:ext>
            </a:extLst>
          </p:cNvPr>
          <p:cNvSpPr txBox="1"/>
          <p:nvPr/>
        </p:nvSpPr>
        <p:spPr>
          <a:xfrm>
            <a:off x="7556500" y="4597400"/>
            <a:ext cx="3848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군 적용 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DC24B7-87AF-5DF2-81F8-CB38858DDAA8}"/>
              </a:ext>
            </a:extLst>
          </p:cNvPr>
          <p:cNvSpPr txBox="1"/>
          <p:nvPr/>
        </p:nvSpPr>
        <p:spPr>
          <a:xfrm>
            <a:off x="7556500" y="5054600"/>
            <a:ext cx="3848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숙련 조종사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·SOP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기준과 비교해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과도한 고착 또는 누락 탐색을 질문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FBB930-A963-A679-BF0C-98B6DBDE9B40}"/>
              </a:ext>
            </a:extLst>
          </p:cNvPr>
          <p:cNvSpPr txBox="1"/>
          <p:nvPr/>
        </p:nvSpPr>
        <p:spPr>
          <a:xfrm>
            <a:off x="7289800" y="5816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EF6555"/>
                </a:solidFill>
                <a:latin typeface="맑은 고딕" panose="020B0503020000020004" pitchFamily="50" charset="-127"/>
              </a:rPr>
              <a:t>현재 </a:t>
            </a:r>
            <a:r>
              <a:rPr lang="en-US" altLang="ko-KR" sz="1100" b="1">
                <a:solidFill>
                  <a:srgbClr val="EF6555"/>
                </a:solidFill>
                <a:latin typeface="맑은 고딕" panose="020B0503020000020004" pitchFamily="50" charset="-127"/>
              </a:rPr>
              <a:t>Matrix</a:t>
            </a:r>
            <a:r>
              <a:rPr lang="ko-KR" altLang="en-US" sz="1100" b="1">
                <a:solidFill>
                  <a:srgbClr val="EF6555"/>
                </a:solidFill>
                <a:latin typeface="맑은 고딕" panose="020B0503020000020004" pitchFamily="50" charset="-127"/>
              </a:rPr>
              <a:t>는 기술검증 표본이며</a:t>
            </a:r>
            <a:r>
              <a:rPr lang="en-US" altLang="ko-KR" sz="1100" b="1">
                <a:solidFill>
                  <a:srgbClr val="EF65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b="1">
                <a:solidFill>
                  <a:srgbClr val="EF6555"/>
                </a:solidFill>
                <a:latin typeface="맑은 고딕" panose="020B0503020000020004" pitchFamily="50" charset="-127"/>
              </a:rPr>
              <a:t>숙련 조종사 기준값이 아닙니다</a:t>
            </a:r>
            <a:r>
              <a:rPr lang="en-US" altLang="ko-KR" sz="1100" b="1">
                <a:solidFill>
                  <a:srgbClr val="EF6555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EF6555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3766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CADCC-D5AA-2ECD-C2BC-C6CAD8C0D7A1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05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기술검증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2A001-EFF5-0EBF-1E23-4DD36AF6B2D6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소규모 표본에서 전체 파이프라인의 작동 가능성을 확인했습니다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757D1F6-3531-12FF-4295-1D3121741B75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B69AED3-5E2D-E891-86DA-7A4461CBE019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8D36A-E09D-E59D-A2E4-4904F2F24CB9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10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1873C75-D806-4404-5B7C-00571DA4F75C}"/>
              </a:ext>
            </a:extLst>
          </p:cNvPr>
          <p:cNvSpPr/>
          <p:nvPr/>
        </p:nvSpPr>
        <p:spPr>
          <a:xfrm>
            <a:off x="558800" y="1676400"/>
            <a:ext cx="2082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070F6-0108-9600-1A2C-608AD602BEC3}"/>
              </a:ext>
            </a:extLst>
          </p:cNvPr>
          <p:cNvSpPr txBox="1"/>
          <p:nvPr/>
        </p:nvSpPr>
        <p:spPr>
          <a:xfrm>
            <a:off x="685800" y="1828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1769AA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2800" b="1">
                <a:solidFill>
                  <a:srgbClr val="1769AA"/>
                </a:solidFill>
                <a:latin typeface="맑은 고딕" panose="020B0503020000020004" pitchFamily="50" charset="-127"/>
              </a:rPr>
              <a:t>명 </a:t>
            </a:r>
            <a:r>
              <a:rPr lang="en-US" altLang="ko-KR" sz="2800" b="1">
                <a:solidFill>
                  <a:srgbClr val="1769AA"/>
                </a:solidFill>
                <a:latin typeface="맑은 고딕" panose="020B0503020000020004" pitchFamily="50" charset="-127"/>
              </a:rPr>
              <a:t>/ 36</a:t>
            </a:r>
            <a:endParaRPr lang="ko-KR" altLang="en-US" sz="2800" b="1">
              <a:solidFill>
                <a:srgbClr val="1769A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BFA50-1B9A-A3F2-C885-1CC2FFD7EA77}"/>
              </a:ext>
            </a:extLst>
          </p:cNvPr>
          <p:cNvSpPr txBox="1"/>
          <p:nvPr/>
        </p:nvSpPr>
        <p:spPr>
          <a:xfrm>
            <a:off x="711200" y="24130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완료 세션 </a:t>
            </a:r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균형 </a:t>
            </a:r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trial</a:t>
            </a:r>
          </a:p>
          <a:p>
            <a:pPr algn="ctr"/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전</a:t>
            </a:r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좌</a:t>
            </a:r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우 각 </a:t>
            </a:r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2BCA62D-21BF-8FD1-0098-D3272921468B}"/>
              </a:ext>
            </a:extLst>
          </p:cNvPr>
          <p:cNvSpPr/>
          <p:nvPr/>
        </p:nvSpPr>
        <p:spPr>
          <a:xfrm>
            <a:off x="2844800" y="1676400"/>
            <a:ext cx="2082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EA6AE7-B421-E0C7-A875-8862A928260D}"/>
              </a:ext>
            </a:extLst>
          </p:cNvPr>
          <p:cNvSpPr txBox="1"/>
          <p:nvPr/>
        </p:nvSpPr>
        <p:spPr>
          <a:xfrm>
            <a:off x="2971800" y="1828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2E9E6F"/>
                </a:solidFill>
                <a:latin typeface="맑은 고딕" panose="020B0503020000020004" pitchFamily="50" charset="-127"/>
              </a:rPr>
              <a:t>96.3%</a:t>
            </a:r>
            <a:endParaRPr lang="ko-KR" altLang="en-US" sz="2800" b="1">
              <a:solidFill>
                <a:srgbClr val="2E9E6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92D3F7-E649-EFAD-A705-82F33AC8E811}"/>
              </a:ext>
            </a:extLst>
          </p:cNvPr>
          <p:cNvSpPr txBox="1"/>
          <p:nvPr/>
        </p:nvSpPr>
        <p:spPr>
          <a:xfrm>
            <a:off x="2997200" y="24130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participant-equal</a:t>
            </a:r>
          </a:p>
          <a:p>
            <a:pPr algn="ctr"/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trial gaze validity</a:t>
            </a:r>
            <a:endParaRPr lang="ko-KR" altLang="en-US" sz="12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9FA5319-C85E-F855-07E5-30F1156B12AB}"/>
              </a:ext>
            </a:extLst>
          </p:cNvPr>
          <p:cNvSpPr/>
          <p:nvPr/>
        </p:nvSpPr>
        <p:spPr>
          <a:xfrm>
            <a:off x="5130800" y="1676400"/>
            <a:ext cx="2082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6482A1-732C-9163-4EB7-ECC16D6E3B66}"/>
              </a:ext>
            </a:extLst>
          </p:cNvPr>
          <p:cNvSpPr txBox="1"/>
          <p:nvPr/>
        </p:nvSpPr>
        <p:spPr>
          <a:xfrm>
            <a:off x="5257800" y="1828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EF6555"/>
                </a:solidFill>
                <a:latin typeface="맑은 고딕" panose="020B0503020000020004" pitchFamily="50" charset="-127"/>
              </a:rPr>
              <a:t>31 / 36</a:t>
            </a:r>
            <a:endParaRPr lang="ko-KR" altLang="en-US" sz="2800" b="1">
              <a:solidFill>
                <a:srgbClr val="EF65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980DA-0D51-C766-23E0-0704F51FBEBA}"/>
              </a:ext>
            </a:extLst>
          </p:cNvPr>
          <p:cNvSpPr txBox="1"/>
          <p:nvPr/>
        </p:nvSpPr>
        <p:spPr>
          <a:xfrm>
            <a:off x="5283200" y="24130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지속 조종반응</a:t>
            </a:r>
          </a:p>
          <a:p>
            <a:pPr algn="ctr"/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automatic detection</a:t>
            </a:r>
            <a:endParaRPr lang="ko-KR" altLang="en-US" sz="12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D1B19A8-3E45-8DD8-5714-6F3B21310491}"/>
              </a:ext>
            </a:extLst>
          </p:cNvPr>
          <p:cNvSpPr/>
          <p:nvPr/>
        </p:nvSpPr>
        <p:spPr>
          <a:xfrm>
            <a:off x="7416800" y="1676400"/>
            <a:ext cx="2082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C81223-9C58-2433-B6EB-FEF391D39100}"/>
              </a:ext>
            </a:extLst>
          </p:cNvPr>
          <p:cNvSpPr txBox="1"/>
          <p:nvPr/>
        </p:nvSpPr>
        <p:spPr>
          <a:xfrm>
            <a:off x="7543800" y="1828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E5A93D"/>
                </a:solidFill>
                <a:latin typeface="맑은 고딕" panose="020B0503020000020004" pitchFamily="50" charset="-127"/>
              </a:rPr>
              <a:t>5,942</a:t>
            </a:r>
            <a:endParaRPr lang="ko-KR" altLang="en-US" sz="2800" b="1">
              <a:solidFill>
                <a:srgbClr val="E5A93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A587CF-CDB6-4E6B-8EBA-1B922AEC0187}"/>
              </a:ext>
            </a:extLst>
          </p:cNvPr>
          <p:cNvSpPr txBox="1"/>
          <p:nvPr/>
        </p:nvSpPr>
        <p:spPr>
          <a:xfrm>
            <a:off x="7569200" y="24130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200 ms AOI</a:t>
            </a:r>
          </a:p>
          <a:p>
            <a:pPr algn="ctr"/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인접 전이 수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33B77D2-6D24-6776-9CF0-7872BF21BDB0}"/>
              </a:ext>
            </a:extLst>
          </p:cNvPr>
          <p:cNvSpPr/>
          <p:nvPr/>
        </p:nvSpPr>
        <p:spPr>
          <a:xfrm>
            <a:off x="9702800" y="1676400"/>
            <a:ext cx="2082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7AE3A8-53BB-EBC4-8F65-8F75E14F8F2C}"/>
              </a:ext>
            </a:extLst>
          </p:cNvPr>
          <p:cNvSpPr txBox="1"/>
          <p:nvPr/>
        </p:nvSpPr>
        <p:spPr>
          <a:xfrm>
            <a:off x="9829800" y="1828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1769AA"/>
                </a:solidFill>
                <a:latin typeface="맑은 고딕" panose="020B0503020000020004" pitchFamily="50" charset="-127"/>
              </a:rPr>
              <a:t>79.9%</a:t>
            </a:r>
            <a:endParaRPr lang="ko-KR" altLang="en-US" sz="2800" b="1">
              <a:solidFill>
                <a:srgbClr val="1769A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27574A-587C-9993-6522-D1A1639CEAC8}"/>
              </a:ext>
            </a:extLst>
          </p:cNvPr>
          <p:cNvSpPr txBox="1"/>
          <p:nvPr/>
        </p:nvSpPr>
        <p:spPr>
          <a:xfrm>
            <a:off x="9855200" y="24130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동일 </a:t>
            </a:r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AOI </a:t>
            </a:r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유지</a:t>
            </a:r>
          </a:p>
          <a:p>
            <a:pPr algn="ctr"/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self-transition</a:t>
            </a:r>
            <a:endParaRPr lang="ko-KR" altLang="en-US" sz="12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FA1F26-BAF4-D802-7E82-B5932C98D11A}"/>
              </a:ext>
            </a:extLst>
          </p:cNvPr>
          <p:cNvSpPr/>
          <p:nvPr/>
        </p:nvSpPr>
        <p:spPr>
          <a:xfrm>
            <a:off x="762000" y="3708400"/>
            <a:ext cx="10668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6AEF45-E638-40E6-5BDA-D4FFAFDDEDE3}"/>
              </a:ext>
            </a:extLst>
          </p:cNvPr>
          <p:cNvSpPr txBox="1"/>
          <p:nvPr/>
        </p:nvSpPr>
        <p:spPr>
          <a:xfrm>
            <a:off x="1066800" y="3937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>
                <a:solidFill>
                  <a:srgbClr val="526171"/>
                </a:solidFill>
                <a:latin typeface="맑은 고딕" panose="020B0503020000020004" pitchFamily="50" charset="-127"/>
              </a:rPr>
              <a:t>검출된 </a:t>
            </a:r>
            <a:r>
              <a:rPr lang="en-US" altLang="ko-KR" sz="1500" b="1">
                <a:solidFill>
                  <a:srgbClr val="526171"/>
                </a:solidFill>
                <a:latin typeface="맑은 고딕" panose="020B0503020000020004" pitchFamily="50" charset="-127"/>
              </a:rPr>
              <a:t>visual-opportunity → response</a:t>
            </a:r>
            <a:endParaRPr lang="ko-KR" altLang="en-US" sz="15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1EF364-2C99-82A4-47B8-441CEE2ACBA8}"/>
              </a:ext>
            </a:extLst>
          </p:cNvPr>
          <p:cNvSpPr txBox="1"/>
          <p:nvPr/>
        </p:nvSpPr>
        <p:spPr>
          <a:xfrm>
            <a:off x="1066800" y="43561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500" b="1">
                <a:solidFill>
                  <a:srgbClr val="071B33"/>
                </a:solidFill>
                <a:latin typeface="맑은 고딕" panose="020B0503020000020004" pitchFamily="50" charset="-127"/>
              </a:rPr>
              <a:t>평균 </a:t>
            </a:r>
            <a:r>
              <a:rPr lang="en-US" altLang="ko-KR" sz="2500" b="1">
                <a:solidFill>
                  <a:srgbClr val="071B33"/>
                </a:solidFill>
                <a:latin typeface="맑은 고딕" panose="020B0503020000020004" pitchFamily="50" charset="-127"/>
              </a:rPr>
              <a:t>3.135 s</a:t>
            </a:r>
            <a:endParaRPr lang="ko-KR" altLang="en-US" sz="25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DCC39F-850A-3503-A511-33C12200B33E}"/>
              </a:ext>
            </a:extLst>
          </p:cNvPr>
          <p:cNvSpPr txBox="1"/>
          <p:nvPr/>
        </p:nvSpPr>
        <p:spPr>
          <a:xfrm>
            <a:off x="4318000" y="43561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500" b="1">
                <a:solidFill>
                  <a:srgbClr val="1769AA"/>
                </a:solidFill>
                <a:latin typeface="맑은 고딕" panose="020B0503020000020004" pitchFamily="50" charset="-127"/>
              </a:rPr>
              <a:t>중앙값 </a:t>
            </a:r>
            <a:r>
              <a:rPr lang="en-US" altLang="ko-KR" sz="2500" b="1">
                <a:solidFill>
                  <a:srgbClr val="1769AA"/>
                </a:solidFill>
                <a:latin typeface="맑은 고딕" panose="020B0503020000020004" pitchFamily="50" charset="-127"/>
              </a:rPr>
              <a:t>2.138 s</a:t>
            </a:r>
            <a:endParaRPr lang="ko-KR" altLang="en-US" sz="2500" b="1">
              <a:solidFill>
                <a:srgbClr val="1769A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2895EBD-F555-6A5D-756A-227870BDB544}"/>
              </a:ext>
            </a:extLst>
          </p:cNvPr>
          <p:cNvSpPr/>
          <p:nvPr/>
        </p:nvSpPr>
        <p:spPr>
          <a:xfrm>
            <a:off x="7772400" y="3924300"/>
            <a:ext cx="3175000" cy="8890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2B5A40-B006-157C-C9D9-8BCCA62BCD87}"/>
              </a:ext>
            </a:extLst>
          </p:cNvPr>
          <p:cNvSpPr txBox="1"/>
          <p:nvPr/>
        </p:nvSpPr>
        <p:spPr>
          <a:xfrm>
            <a:off x="8026400" y="40513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600" b="1">
                <a:solidFill>
                  <a:srgbClr val="EF6555"/>
                </a:solidFill>
                <a:latin typeface="맑은 고딕" panose="020B0503020000020004" pitchFamily="50" charset="-127"/>
              </a:rPr>
              <a:t>속도 </a:t>
            </a:r>
            <a:r>
              <a:rPr lang="en-US" altLang="ko-KR" sz="1600" b="1">
                <a:solidFill>
                  <a:srgbClr val="EF6555"/>
                </a:solidFill>
                <a:latin typeface="맑은 고딕" panose="020B0503020000020004" pitchFamily="50" charset="-127"/>
              </a:rPr>
              <a:t>gate</a:t>
            </a:r>
          </a:p>
          <a:p>
            <a:pPr algn="ctr"/>
            <a:r>
              <a:rPr lang="ko-KR" altLang="en-US" sz="1600" b="1">
                <a:solidFill>
                  <a:srgbClr val="EF6555"/>
                </a:solidFill>
                <a:latin typeface="맑은 고딕" panose="020B0503020000020004" pitchFamily="50" charset="-127"/>
              </a:rPr>
              <a:t>정상 </a:t>
            </a:r>
            <a:r>
              <a:rPr lang="en-US" altLang="ko-KR" sz="1600" b="1">
                <a:solidFill>
                  <a:srgbClr val="EF6555"/>
                </a:solidFill>
                <a:latin typeface="맑은 고딕" panose="020B0503020000020004" pitchFamily="50" charset="-127"/>
              </a:rPr>
              <a:t>16 / timeout 20</a:t>
            </a:r>
            <a:endParaRPr lang="ko-KR" altLang="en-US" sz="1600" b="1">
              <a:solidFill>
                <a:srgbClr val="EF65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8F9C25-7492-4EA8-56BD-898AD96126EA}"/>
              </a:ext>
            </a:extLst>
          </p:cNvPr>
          <p:cNvSpPr txBox="1"/>
          <p:nvPr/>
        </p:nvSpPr>
        <p:spPr>
          <a:xfrm>
            <a:off x="990600" y="5410200"/>
            <a:ext cx="1021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해석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수집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병합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분류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·Matrix 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산출의 기술적 실현 가능성 확인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B8D371-428E-41F1-A819-8647F782AC0B}"/>
              </a:ext>
            </a:extLst>
          </p:cNvPr>
          <p:cNvSpPr txBox="1"/>
          <p:nvPr/>
        </p:nvSpPr>
        <p:spPr>
          <a:xfrm>
            <a:off x="990600" y="5816600"/>
            <a:ext cx="1021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미확인</a:t>
            </a:r>
            <a:r>
              <a:rPr lang="en-US" altLang="ko-KR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숙련도 차이</a:t>
            </a:r>
            <a:r>
              <a:rPr lang="en-US" altLang="ko-KR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실제 인지시점</a:t>
            </a:r>
            <a:r>
              <a:rPr lang="en-US" altLang="ko-KR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회피 의도</a:t>
            </a:r>
            <a:r>
              <a:rPr lang="en-US" altLang="ko-KR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EF6555"/>
                </a:solidFill>
                <a:latin typeface="맑은 고딕" panose="020B0503020000020004" pitchFamily="50" charset="-127"/>
              </a:rPr>
              <a:t>군 조종사 모집단 효과</a:t>
            </a:r>
          </a:p>
        </p:txBody>
      </p:sp>
    </p:spTree>
    <p:extLst>
      <p:ext uri="{BB962C8B-B14F-4D97-AF65-F5344CB8AC3E}">
        <p14:creationId xmlns:p14="http://schemas.microsoft.com/office/powerpoint/2010/main" val="997013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58FB9E-525B-3925-9A1F-1BE435550D2E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05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기술검증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81D5B-DD68-F146-3214-9A6818E387CC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침입기가 관측 가능해진 뒤 시선 전환은 증가했습니다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48A39-84B3-EF87-39F8-35761FAC1A40}"/>
              </a:ext>
            </a:extLst>
          </p:cNvPr>
          <p:cNvSpPr txBox="1"/>
          <p:nvPr/>
        </p:nvSpPr>
        <p:spPr>
          <a:xfrm>
            <a:off x="533400" y="1117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반복측정 기술표본의 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descriptive pattern — </a:t>
            </a:r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인과효과로 해석하지 않음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92B8939-C3F8-A2C2-2D26-0311B1E3D0BC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410F6A3-8284-6FD7-C9BB-FC20327C13CB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3A692-68C1-55C8-E88E-B0F74CFA710C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11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63038-3175-DA66-1A95-C37D5E86B6D7}"/>
              </a:ext>
            </a:extLst>
          </p:cNvPr>
          <p:cNvSpPr txBox="1"/>
          <p:nvPr/>
        </p:nvSpPr>
        <p:spPr>
          <a:xfrm>
            <a:off x="889000" y="1676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Self-transition rate (%)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91CA4-A1EE-E52F-F5F9-F74B2AFEA087}"/>
              </a:ext>
            </a:extLst>
          </p:cNvPr>
          <p:cNvSpPr txBox="1"/>
          <p:nvPr/>
        </p:nvSpPr>
        <p:spPr>
          <a:xfrm>
            <a:off x="6858000" y="1676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AOI switches / min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C5EA39-A449-E828-8BFF-59A9140918E7}"/>
              </a:ext>
            </a:extLst>
          </p:cNvPr>
          <p:cNvSpPr/>
          <p:nvPr/>
        </p:nvSpPr>
        <p:spPr>
          <a:xfrm>
            <a:off x="1079500" y="3314700"/>
            <a:ext cx="889000" cy="12573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A2862-29AD-5E3A-8843-11B3CFF6B782}"/>
              </a:ext>
            </a:extLst>
          </p:cNvPr>
          <p:cNvSpPr txBox="1"/>
          <p:nvPr/>
        </p:nvSpPr>
        <p:spPr>
          <a:xfrm>
            <a:off x="1016000" y="29337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79.9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4F81D-B845-B379-0C5A-75CE74BB4DE5}"/>
              </a:ext>
            </a:extLst>
          </p:cNvPr>
          <p:cNvSpPr txBox="1"/>
          <p:nvPr/>
        </p:nvSpPr>
        <p:spPr>
          <a:xfrm>
            <a:off x="825500" y="4699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526171"/>
                </a:solidFill>
                <a:latin typeface="맑은 고딕" panose="020B0503020000020004" pitchFamily="50" charset="-127"/>
              </a:rPr>
              <a:t>생성 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63CDA9-F884-E1F7-3A75-949753DC1FC1}"/>
              </a:ext>
            </a:extLst>
          </p:cNvPr>
          <p:cNvSpPr/>
          <p:nvPr/>
        </p:nvSpPr>
        <p:spPr>
          <a:xfrm>
            <a:off x="7048500" y="3512820"/>
            <a:ext cx="889000" cy="105918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84FA19-3115-3963-CFF2-45905DDD9F84}"/>
              </a:ext>
            </a:extLst>
          </p:cNvPr>
          <p:cNvSpPr txBox="1"/>
          <p:nvPr/>
        </p:nvSpPr>
        <p:spPr>
          <a:xfrm>
            <a:off x="6985000" y="313182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58.9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AE6115-7CC8-6618-852D-791B4CF5E47D}"/>
              </a:ext>
            </a:extLst>
          </p:cNvPr>
          <p:cNvSpPr txBox="1"/>
          <p:nvPr/>
        </p:nvSpPr>
        <p:spPr>
          <a:xfrm>
            <a:off x="6794500" y="4699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526171"/>
                </a:solidFill>
                <a:latin typeface="맑은 고딕" panose="020B0503020000020004" pitchFamily="50" charset="-127"/>
              </a:rPr>
              <a:t>생성 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F86270-CA6A-5E18-DB22-78F185B317A7}"/>
              </a:ext>
            </a:extLst>
          </p:cNvPr>
          <p:cNvSpPr/>
          <p:nvPr/>
        </p:nvSpPr>
        <p:spPr>
          <a:xfrm>
            <a:off x="2603500" y="3048000"/>
            <a:ext cx="889000" cy="1524000"/>
          </a:xfrm>
          <a:prstGeom prst="rect">
            <a:avLst/>
          </a:prstGeom>
          <a:solidFill>
            <a:srgbClr val="9476E8"/>
          </a:solidFill>
          <a:ln w="0">
            <a:solidFill>
              <a:srgbClr val="9476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EBDA3B-1119-1BCC-C7DF-8ED7949D6465}"/>
              </a:ext>
            </a:extLst>
          </p:cNvPr>
          <p:cNvSpPr txBox="1"/>
          <p:nvPr/>
        </p:nvSpPr>
        <p:spPr>
          <a:xfrm>
            <a:off x="2540000" y="26670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82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895739-A73B-1477-5BEE-CD476DB58468}"/>
              </a:ext>
            </a:extLst>
          </p:cNvPr>
          <p:cNvSpPr txBox="1"/>
          <p:nvPr/>
        </p:nvSpPr>
        <p:spPr>
          <a:xfrm>
            <a:off x="2349500" y="4699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526171"/>
                </a:solidFill>
                <a:latin typeface="맑은 고딕" panose="020B0503020000020004" pitchFamily="50" charset="-127"/>
              </a:rPr>
              <a:t>생성→</a:t>
            </a:r>
            <a:r>
              <a:rPr lang="en-US" altLang="ko-KR" sz="1200">
                <a:solidFill>
                  <a:srgbClr val="526171"/>
                </a:solidFill>
                <a:latin typeface="맑은 고딕" panose="020B0503020000020004" pitchFamily="50" charset="-127"/>
              </a:rPr>
              <a:t>20px</a:t>
            </a:r>
            <a:endParaRPr lang="ko-KR" altLang="en-US" sz="12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73E3BC-0BB0-4701-ED2C-1F75E5D75983}"/>
              </a:ext>
            </a:extLst>
          </p:cNvPr>
          <p:cNvSpPr/>
          <p:nvPr/>
        </p:nvSpPr>
        <p:spPr>
          <a:xfrm>
            <a:off x="8572500" y="4053840"/>
            <a:ext cx="889000" cy="518160"/>
          </a:xfrm>
          <a:prstGeom prst="rect">
            <a:avLst/>
          </a:prstGeom>
          <a:solidFill>
            <a:srgbClr val="9476E8"/>
          </a:solidFill>
          <a:ln w="0">
            <a:solidFill>
              <a:srgbClr val="9476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F7EA7C-015D-5002-C07F-EF0EF0E2CD76}"/>
              </a:ext>
            </a:extLst>
          </p:cNvPr>
          <p:cNvSpPr txBox="1"/>
          <p:nvPr/>
        </p:nvSpPr>
        <p:spPr>
          <a:xfrm>
            <a:off x="8509000" y="367284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51.8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4322EE-9F5F-195C-107F-E5DEFFE85A14}"/>
              </a:ext>
            </a:extLst>
          </p:cNvPr>
          <p:cNvSpPr txBox="1"/>
          <p:nvPr/>
        </p:nvSpPr>
        <p:spPr>
          <a:xfrm>
            <a:off x="8318500" y="4699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526171"/>
                </a:solidFill>
                <a:latin typeface="맑은 고딕" panose="020B0503020000020004" pitchFamily="50" charset="-127"/>
              </a:rPr>
              <a:t>생성→</a:t>
            </a:r>
            <a:r>
              <a:rPr lang="en-US" altLang="ko-KR" sz="1200">
                <a:solidFill>
                  <a:srgbClr val="526171"/>
                </a:solidFill>
                <a:latin typeface="맑은 고딕" panose="020B0503020000020004" pitchFamily="50" charset="-127"/>
              </a:rPr>
              <a:t>20px</a:t>
            </a:r>
            <a:endParaRPr lang="ko-KR" altLang="en-US" sz="12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2C9AB2A-4E1F-9736-A33C-B4287E363D3D}"/>
              </a:ext>
            </a:extLst>
          </p:cNvPr>
          <p:cNvSpPr/>
          <p:nvPr/>
        </p:nvSpPr>
        <p:spPr>
          <a:xfrm>
            <a:off x="4127500" y="3530600"/>
            <a:ext cx="889000" cy="1041400"/>
          </a:xfrm>
          <a:prstGeom prst="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447ABD-5E91-7E8E-E121-C2E387EA523A}"/>
              </a:ext>
            </a:extLst>
          </p:cNvPr>
          <p:cNvSpPr txBox="1"/>
          <p:nvPr/>
        </p:nvSpPr>
        <p:spPr>
          <a:xfrm>
            <a:off x="4064000" y="3149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78.2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94DB0D-8975-0204-C3DD-408DAB7415B0}"/>
              </a:ext>
            </a:extLst>
          </p:cNvPr>
          <p:cNvSpPr txBox="1"/>
          <p:nvPr/>
        </p:nvSpPr>
        <p:spPr>
          <a:xfrm>
            <a:off x="3873500" y="4699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526171"/>
                </a:solidFill>
                <a:latin typeface="맑은 고딕" panose="020B0503020000020004" pitchFamily="50" charset="-127"/>
              </a:rPr>
              <a:t>20px </a:t>
            </a:r>
            <a:r>
              <a:rPr lang="ko-KR" altLang="en-US" sz="1200">
                <a:solidFill>
                  <a:srgbClr val="526171"/>
                </a:solidFill>
                <a:latin typeface="맑은 고딕" panose="020B0503020000020004" pitchFamily="50" charset="-127"/>
              </a:rPr>
              <a:t>이후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BBE6D55-E469-3E89-4357-A0BB1BE4F9D5}"/>
              </a:ext>
            </a:extLst>
          </p:cNvPr>
          <p:cNvSpPr/>
          <p:nvPr/>
        </p:nvSpPr>
        <p:spPr>
          <a:xfrm>
            <a:off x="10096500" y="3223260"/>
            <a:ext cx="889000" cy="1348740"/>
          </a:xfrm>
          <a:prstGeom prst="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E24C06-366F-8D1C-443F-F1E32EA43319}"/>
              </a:ext>
            </a:extLst>
          </p:cNvPr>
          <p:cNvSpPr txBox="1"/>
          <p:nvPr/>
        </p:nvSpPr>
        <p:spPr>
          <a:xfrm>
            <a:off x="10033000" y="284226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400" b="1">
                <a:solidFill>
                  <a:srgbClr val="071B33"/>
                </a:solidFill>
                <a:latin typeface="맑은 고딕" panose="020B0503020000020004" pitchFamily="50" charset="-127"/>
              </a:rPr>
              <a:t>62.7</a:t>
            </a:r>
            <a:endParaRPr lang="ko-KR" altLang="en-US" sz="14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950C70-03B6-46F6-8F6D-CEAC520AF51A}"/>
              </a:ext>
            </a:extLst>
          </p:cNvPr>
          <p:cNvSpPr txBox="1"/>
          <p:nvPr/>
        </p:nvSpPr>
        <p:spPr>
          <a:xfrm>
            <a:off x="9842500" y="4699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526171"/>
                </a:solidFill>
                <a:latin typeface="맑은 고딕" panose="020B0503020000020004" pitchFamily="50" charset="-127"/>
              </a:rPr>
              <a:t>20px </a:t>
            </a:r>
            <a:r>
              <a:rPr lang="ko-KR" altLang="en-US" sz="1200">
                <a:solidFill>
                  <a:srgbClr val="526171"/>
                </a:solidFill>
                <a:latin typeface="맑은 고딕" panose="020B0503020000020004" pitchFamily="50" charset="-127"/>
              </a:rPr>
              <a:t>이후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DDAE05F-B305-930B-CAE0-5F6A96BA9B6C}"/>
              </a:ext>
            </a:extLst>
          </p:cNvPr>
          <p:cNvCxnSpPr/>
          <p:nvPr/>
        </p:nvCxnSpPr>
        <p:spPr>
          <a:xfrm>
            <a:off x="889000" y="4572000"/>
            <a:ext cx="4572000" cy="0"/>
          </a:xfrm>
          <a:prstGeom prst="line">
            <a:avLst/>
          </a:prstGeom>
          <a:ln w="12700">
            <a:solidFill>
              <a:srgbClr val="526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F51D629-9566-B8BD-A132-994A20E0A02F}"/>
              </a:ext>
            </a:extLst>
          </p:cNvPr>
          <p:cNvCxnSpPr/>
          <p:nvPr/>
        </p:nvCxnSpPr>
        <p:spPr>
          <a:xfrm>
            <a:off x="6858000" y="4572000"/>
            <a:ext cx="4572000" cy="0"/>
          </a:xfrm>
          <a:prstGeom prst="line">
            <a:avLst/>
          </a:prstGeom>
          <a:ln w="12700">
            <a:solidFill>
              <a:srgbClr val="526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FF0DD7A-9B09-609C-D7D5-15B2466A7AA0}"/>
              </a:ext>
            </a:extLst>
          </p:cNvPr>
          <p:cNvSpPr/>
          <p:nvPr/>
        </p:nvSpPr>
        <p:spPr>
          <a:xfrm>
            <a:off x="2133600" y="5461000"/>
            <a:ext cx="7924800" cy="6350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96D181-AE40-6FF6-E496-88C33B08407C}"/>
              </a:ext>
            </a:extLst>
          </p:cNvPr>
          <p:cNvSpPr txBox="1"/>
          <p:nvPr/>
        </p:nvSpPr>
        <p:spPr>
          <a:xfrm>
            <a:off x="2413000" y="5613400"/>
            <a:ext cx="736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20 px 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이후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동일 영역 고착 ↓  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다른 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AOI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로의 전환 ↑</a:t>
            </a:r>
          </a:p>
        </p:txBody>
      </p:sp>
    </p:spTree>
    <p:extLst>
      <p:ext uri="{BB962C8B-B14F-4D97-AF65-F5344CB8AC3E}">
        <p14:creationId xmlns:p14="http://schemas.microsoft.com/office/powerpoint/2010/main" val="281150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5D274-E48E-F1BD-8D71-927670793BC7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05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기술검증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A6C67-C4EB-AB51-87EE-EFD6B9E54281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현재 데이터가 말할 수 있는 범위를 지켜야 합니다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9002C61-4FC4-5BA6-E931-FE59A5FE7FBB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CB1CEB-C50E-D14C-99BF-833BDFF923B7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70459-1792-E71C-4454-1B0BF12FA974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12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492389-F595-3DBC-6BB6-6D8B5C6C8D32}"/>
              </a:ext>
            </a:extLst>
          </p:cNvPr>
          <p:cNvSpPr/>
          <p:nvPr/>
        </p:nvSpPr>
        <p:spPr>
          <a:xfrm>
            <a:off x="609600" y="1651000"/>
            <a:ext cx="5080000" cy="40386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E3596-CE16-FDE5-C53F-0ECFB6E656F6}"/>
              </a:ext>
            </a:extLst>
          </p:cNvPr>
          <p:cNvSpPr txBox="1"/>
          <p:nvPr/>
        </p:nvSpPr>
        <p:spPr>
          <a:xfrm>
            <a:off x="952500" y="19177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100" b="1">
                <a:solidFill>
                  <a:srgbClr val="2E9E6F"/>
                </a:solidFill>
                <a:latin typeface="맑은 고딕" panose="020B0503020000020004" pitchFamily="50" charset="-127"/>
              </a:rPr>
              <a:t>알 수 있는 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2C0D2-551C-276A-A3E3-AD70C126CAFB}"/>
              </a:ext>
            </a:extLst>
          </p:cNvPr>
          <p:cNvSpPr txBox="1"/>
          <p:nvPr/>
        </p:nvSpPr>
        <p:spPr>
          <a:xfrm>
            <a:off x="977900" y="26035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✓ 데이터가 빠짐없이 기록됐는가</a:t>
            </a:r>
          </a:p>
          <a:p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✓ 어느 화면</a:t>
            </a:r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·AOI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를 보았는가</a:t>
            </a:r>
          </a:p>
          <a:p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✓ </a:t>
            </a:r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20 px 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이후 언제 입력이 변했는가</a:t>
            </a:r>
          </a:p>
          <a:p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✓ 시선 전환과 고착이 어떻게 달랐는가</a:t>
            </a:r>
          </a:p>
          <a:p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✓ 결과를 원본 </a:t>
            </a:r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row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로 추적할 수 있는가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097B2C6-2EA9-209E-F9B0-C1CCA0A95D58}"/>
              </a:ext>
            </a:extLst>
          </p:cNvPr>
          <p:cNvSpPr/>
          <p:nvPr/>
        </p:nvSpPr>
        <p:spPr>
          <a:xfrm>
            <a:off x="6502400" y="1651000"/>
            <a:ext cx="5080000" cy="40386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DD754-06D4-AC86-90FE-ECB010F1E6B9}"/>
              </a:ext>
            </a:extLst>
          </p:cNvPr>
          <p:cNvSpPr txBox="1"/>
          <p:nvPr/>
        </p:nvSpPr>
        <p:spPr>
          <a:xfrm>
            <a:off x="6845300" y="19177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100" b="1">
                <a:solidFill>
                  <a:srgbClr val="EF6555"/>
                </a:solidFill>
                <a:latin typeface="맑은 고딕" panose="020B0503020000020004" pitchFamily="50" charset="-127"/>
              </a:rPr>
              <a:t>아직 알 수 없는 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6CA06-10C1-1A9B-29DD-F8F320F92117}"/>
              </a:ext>
            </a:extLst>
          </p:cNvPr>
          <p:cNvSpPr txBox="1"/>
          <p:nvPr/>
        </p:nvSpPr>
        <p:spPr>
          <a:xfrm>
            <a:off x="6870700" y="26035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× 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실제로 위협을 인지한 정확한 순간</a:t>
            </a:r>
          </a:p>
          <a:p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× 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조작이 회피 목적이었는지 여부</a:t>
            </a:r>
          </a:p>
          <a:p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× 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한 명의 점수로 표현되는 조종능력</a:t>
            </a:r>
          </a:p>
          <a:p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× 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숙련</a:t>
            </a:r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비숙련 집단의 우열</a:t>
            </a:r>
          </a:p>
          <a:p>
            <a:r>
              <a:rPr lang="en-US" altLang="ko-KR" sz="1600">
                <a:solidFill>
                  <a:srgbClr val="172536"/>
                </a:solidFill>
                <a:latin typeface="맑은 고딕" panose="020B0503020000020004" pitchFamily="50" charset="-127"/>
              </a:rPr>
              <a:t>× </a:t>
            </a:r>
            <a:r>
              <a:rPr lang="ko-KR" altLang="en-US" sz="1600">
                <a:solidFill>
                  <a:srgbClr val="172536"/>
                </a:solidFill>
                <a:latin typeface="맑은 고딕" panose="020B0503020000020004" pitchFamily="50" charset="-127"/>
              </a:rPr>
              <a:t>마린온 시뮬레이터에서의 즉시 적용성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BC3C35-A305-0F11-6509-50170AFB4F8F}"/>
              </a:ext>
            </a:extLst>
          </p:cNvPr>
          <p:cNvSpPr txBox="1"/>
          <p:nvPr/>
        </p:nvSpPr>
        <p:spPr>
          <a:xfrm>
            <a:off x="1498600" y="5918200"/>
            <a:ext cx="919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원칙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측정한 것과 추론한 것을 분리하고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교관 판단을 최종 단계에 둔다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.</a:t>
            </a:r>
            <a:endParaRPr lang="ko-KR" altLang="en-US" sz="17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8262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28E08-9EBF-9A0D-00F5-A345BDA3A2E1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06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군 적용 방안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7E5B6-7072-7AFD-BB36-E94B2DBEE2D9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X-Plane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이 아니라 ‘데이터 계약과 분석 구조’를 이식합니다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C1FF6AD-8D12-A1C6-B569-E6CD31A9AEFA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3430658-9663-E72D-79AD-3E44327DFFF7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CF4D1-2E39-F828-D7F2-E9D3D02C29A8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13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A432D0E-3B14-ED87-E5D3-82ACE74B272C}"/>
              </a:ext>
            </a:extLst>
          </p:cNvPr>
          <p:cNvSpPr/>
          <p:nvPr/>
        </p:nvSpPr>
        <p:spPr>
          <a:xfrm>
            <a:off x="571500" y="1549400"/>
            <a:ext cx="1498600" cy="304800"/>
          </a:xfrm>
          <a:prstGeom prst="round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2D598-A035-150C-2E6F-988977B3DFC4}"/>
              </a:ext>
            </a:extLst>
          </p:cNvPr>
          <p:cNvSpPr txBox="1"/>
          <p:nvPr/>
        </p:nvSpPr>
        <p:spPr>
          <a:xfrm>
            <a:off x="673100" y="1562100"/>
            <a:ext cx="129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현재 연구실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C3C988B-3FFB-DED3-B5CA-B9D836513EC0}"/>
              </a:ext>
            </a:extLst>
          </p:cNvPr>
          <p:cNvSpPr/>
          <p:nvPr/>
        </p:nvSpPr>
        <p:spPr>
          <a:xfrm>
            <a:off x="10071100" y="1549400"/>
            <a:ext cx="1549400" cy="304800"/>
          </a:xfrm>
          <a:prstGeom prst="round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4313A9-85DF-E6CA-3D45-AE826BF21060}"/>
              </a:ext>
            </a:extLst>
          </p:cNvPr>
          <p:cNvSpPr txBox="1"/>
          <p:nvPr/>
        </p:nvSpPr>
        <p:spPr>
          <a:xfrm>
            <a:off x="10172700" y="15621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군 적용 제안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D421D95-A435-1961-4BBF-2CA3A16E9490}"/>
              </a:ext>
            </a:extLst>
          </p:cNvPr>
          <p:cNvSpPr/>
          <p:nvPr/>
        </p:nvSpPr>
        <p:spPr>
          <a:xfrm>
            <a:off x="558800" y="2133600"/>
            <a:ext cx="2286000" cy="1524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E8E107-DC0E-839F-0A3D-E922265533D8}"/>
              </a:ext>
            </a:extLst>
          </p:cNvPr>
          <p:cNvSpPr/>
          <p:nvPr/>
        </p:nvSpPr>
        <p:spPr>
          <a:xfrm>
            <a:off x="558800" y="2133600"/>
            <a:ext cx="88900" cy="1524000"/>
          </a:xfrm>
          <a:prstGeom prst="rect">
            <a:avLst/>
          </a:prstGeom>
          <a:solidFill>
            <a:srgbClr val="071B33"/>
          </a:solidFill>
          <a:ln w="0">
            <a:solidFill>
              <a:srgbClr val="071B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CCBB9-6963-14CD-85E7-70FCE13D1C0D}"/>
              </a:ext>
            </a:extLst>
          </p:cNvPr>
          <p:cNvSpPr txBox="1"/>
          <p:nvPr/>
        </p:nvSpPr>
        <p:spPr>
          <a:xfrm>
            <a:off x="812800" y="2311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인가 시뮬레이터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F7645A-836F-7129-0777-8625ACC08B41}"/>
              </a:ext>
            </a:extLst>
          </p:cNvPr>
          <p:cNvSpPr txBox="1"/>
          <p:nvPr/>
        </p:nvSpPr>
        <p:spPr>
          <a:xfrm>
            <a:off x="812800" y="2768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마린온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·KUH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계열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상태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입력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/event export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CCB9051-4D74-4722-52E0-D2B0D04ABB3A}"/>
              </a:ext>
            </a:extLst>
          </p:cNvPr>
          <p:cNvCxnSpPr/>
          <p:nvPr/>
        </p:nvCxnSpPr>
        <p:spPr>
          <a:xfrm>
            <a:off x="2844800" y="2895600"/>
            <a:ext cx="635000" cy="0"/>
          </a:xfrm>
          <a:prstGeom prst="line">
            <a:avLst/>
          </a:prstGeom>
          <a:ln w="381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1476A0A-3894-8C16-656E-0C8D5E5F11BB}"/>
              </a:ext>
            </a:extLst>
          </p:cNvPr>
          <p:cNvSpPr/>
          <p:nvPr/>
        </p:nvSpPr>
        <p:spPr>
          <a:xfrm>
            <a:off x="3479800" y="2133600"/>
            <a:ext cx="2286000" cy="1524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1B2D12-143A-3266-3A98-45F3D5ED471E}"/>
              </a:ext>
            </a:extLst>
          </p:cNvPr>
          <p:cNvSpPr/>
          <p:nvPr/>
        </p:nvSpPr>
        <p:spPr>
          <a:xfrm>
            <a:off x="3479800" y="2133600"/>
            <a:ext cx="88900" cy="15240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BAE88E-C429-9B2B-DDFF-E235F96C46AE}"/>
              </a:ext>
            </a:extLst>
          </p:cNvPr>
          <p:cNvSpPr txBox="1"/>
          <p:nvPr/>
        </p:nvSpPr>
        <p:spPr>
          <a:xfrm>
            <a:off x="3733800" y="2311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Adapter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EBC600-84BE-3911-0F27-991D5C7AAEB4}"/>
              </a:ext>
            </a:extLst>
          </p:cNvPr>
          <p:cNvSpPr txBox="1"/>
          <p:nvPr/>
        </p:nvSpPr>
        <p:spPr>
          <a:xfrm>
            <a:off x="3733800" y="2768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기종별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ICD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를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공통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data contract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로 변환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3146854-EF5E-998E-928E-EE2A35898171}"/>
              </a:ext>
            </a:extLst>
          </p:cNvPr>
          <p:cNvCxnSpPr/>
          <p:nvPr/>
        </p:nvCxnSpPr>
        <p:spPr>
          <a:xfrm>
            <a:off x="5765800" y="2895600"/>
            <a:ext cx="635000" cy="0"/>
          </a:xfrm>
          <a:prstGeom prst="line">
            <a:avLst/>
          </a:prstGeom>
          <a:ln w="381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C6885D0-CB7E-4084-9FCA-982CE0A7850C}"/>
              </a:ext>
            </a:extLst>
          </p:cNvPr>
          <p:cNvSpPr/>
          <p:nvPr/>
        </p:nvSpPr>
        <p:spPr>
          <a:xfrm>
            <a:off x="6400800" y="2133600"/>
            <a:ext cx="2286000" cy="15240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1C528B-DF36-1F2D-15C2-1415E0ED2185}"/>
              </a:ext>
            </a:extLst>
          </p:cNvPr>
          <p:cNvSpPr/>
          <p:nvPr/>
        </p:nvSpPr>
        <p:spPr>
          <a:xfrm>
            <a:off x="6400800" y="2133600"/>
            <a:ext cx="88900" cy="1524000"/>
          </a:xfrm>
          <a:prstGeom prst="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006025-FC12-E517-6315-7D7215F4E4B8}"/>
              </a:ext>
            </a:extLst>
          </p:cNvPr>
          <p:cNvSpPr txBox="1"/>
          <p:nvPr/>
        </p:nvSpPr>
        <p:spPr>
          <a:xfrm>
            <a:off x="6654800" y="2311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보안 분석 노드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AD0B6B-E70F-9856-D4D6-3559D355F29C}"/>
              </a:ext>
            </a:extLst>
          </p:cNvPr>
          <p:cNvSpPr txBox="1"/>
          <p:nvPr/>
        </p:nvSpPr>
        <p:spPr>
          <a:xfrm>
            <a:off x="6654800" y="2768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폐쇄망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·on-premise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동기화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/AOI/event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9B986EE-D692-4805-496F-96CFE7B06CB8}"/>
              </a:ext>
            </a:extLst>
          </p:cNvPr>
          <p:cNvCxnSpPr/>
          <p:nvPr/>
        </p:nvCxnSpPr>
        <p:spPr>
          <a:xfrm>
            <a:off x="8686800" y="2895600"/>
            <a:ext cx="635000" cy="0"/>
          </a:xfrm>
          <a:prstGeom prst="line">
            <a:avLst/>
          </a:prstGeom>
          <a:ln w="381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ED7F84E-8868-5AFC-A43F-194B6780A508}"/>
              </a:ext>
            </a:extLst>
          </p:cNvPr>
          <p:cNvSpPr/>
          <p:nvPr/>
        </p:nvSpPr>
        <p:spPr>
          <a:xfrm>
            <a:off x="9321800" y="2133600"/>
            <a:ext cx="2286000" cy="15240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38A12E5-499F-C9B5-FCCA-EA7032A858E7}"/>
              </a:ext>
            </a:extLst>
          </p:cNvPr>
          <p:cNvSpPr/>
          <p:nvPr/>
        </p:nvSpPr>
        <p:spPr>
          <a:xfrm>
            <a:off x="9321800" y="2133600"/>
            <a:ext cx="88900" cy="1524000"/>
          </a:xfrm>
          <a:prstGeom prst="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AB420D-DE28-DC5C-6B9A-B817B36FD330}"/>
              </a:ext>
            </a:extLst>
          </p:cNvPr>
          <p:cNvSpPr txBox="1"/>
          <p:nvPr/>
        </p:nvSpPr>
        <p:spPr>
          <a:xfrm>
            <a:off x="9575800" y="2311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교관 화면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C5D06C-4D3D-1DFB-A722-3A87FF07F20C}"/>
              </a:ext>
            </a:extLst>
          </p:cNvPr>
          <p:cNvSpPr txBox="1"/>
          <p:nvPr/>
        </p:nvSpPr>
        <p:spPr>
          <a:xfrm>
            <a:off x="9575800" y="27686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timeline·scan·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반응</a:t>
            </a:r>
          </a:p>
          <a:p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SOP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비교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·annotation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63C7BCF-45AB-476A-A0F5-CB5250D403AC}"/>
              </a:ext>
            </a:extLst>
          </p:cNvPr>
          <p:cNvSpPr/>
          <p:nvPr/>
        </p:nvSpPr>
        <p:spPr>
          <a:xfrm>
            <a:off x="1206500" y="4178300"/>
            <a:ext cx="9779000" cy="1397000"/>
          </a:xfrm>
          <a:prstGeom prst="roundRect">
            <a:avLst/>
          </a:prstGeom>
          <a:solidFill>
            <a:srgbClr val="071B33"/>
          </a:solidFill>
          <a:ln w="0">
            <a:solidFill>
              <a:srgbClr val="071B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455911-9297-4101-2E0F-ABF0A5AC8CDF}"/>
              </a:ext>
            </a:extLst>
          </p:cNvPr>
          <p:cNvSpPr txBox="1"/>
          <p:nvPr/>
        </p:nvSpPr>
        <p:spPr>
          <a:xfrm>
            <a:off x="1562100" y="4406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19B7C9"/>
                </a:solidFill>
                <a:latin typeface="맑은 고딕" panose="020B0503020000020004" pitchFamily="50" charset="-127"/>
              </a:rPr>
              <a:t>유지되는 핵심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8E21B8-3DCF-E18C-C01C-AACCDEE510E0}"/>
              </a:ext>
            </a:extLst>
          </p:cNvPr>
          <p:cNvSpPr txBox="1"/>
          <p:nvPr/>
        </p:nvSpPr>
        <p:spPr>
          <a:xfrm>
            <a:off x="1549400" y="4838700"/>
            <a:ext cx="901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event timeline  · 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원본 감사성  </a:t>
            </a:r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·  AOI/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반응 분석  </a:t>
            </a:r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·  trial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품질 </a:t>
            </a:r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flag  ·  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기준모델 비교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57DB40-8B68-5F8E-5C79-56EAA3A12DB3}"/>
              </a:ext>
            </a:extLst>
          </p:cNvPr>
          <p:cNvSpPr txBox="1"/>
          <p:nvPr/>
        </p:nvSpPr>
        <p:spPr>
          <a:xfrm>
            <a:off x="1562100" y="5257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00" b="1">
                <a:solidFill>
                  <a:srgbClr val="BFD4E5"/>
                </a:solidFill>
                <a:latin typeface="맑은 고딕" panose="020B0503020000020004" pitchFamily="50" charset="-127"/>
              </a:rPr>
              <a:t>교체되는 부분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3394F7-181F-A722-B0D5-B17C390F73EA}"/>
              </a:ext>
            </a:extLst>
          </p:cNvPr>
          <p:cNvSpPr txBox="1"/>
          <p:nvPr/>
        </p:nvSpPr>
        <p:spPr>
          <a:xfrm>
            <a:off x="3149600" y="52578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200">
                <a:solidFill>
                  <a:srgbClr val="BFD4E5"/>
                </a:solidFill>
                <a:latin typeface="맑은 고딕" panose="020B0503020000020004" pitchFamily="50" charset="-127"/>
              </a:rPr>
              <a:t>X-Plane/FlyWithLua → </a:t>
            </a:r>
            <a:r>
              <a:rPr lang="ko-KR" altLang="en-US" sz="1200">
                <a:solidFill>
                  <a:srgbClr val="BFD4E5"/>
                </a:solidFill>
                <a:latin typeface="맑은 고딕" panose="020B0503020000020004" pitchFamily="50" charset="-127"/>
              </a:rPr>
              <a:t>군 시뮬레이터 </a:t>
            </a:r>
            <a:r>
              <a:rPr lang="en-US" altLang="ko-KR" sz="1200">
                <a:solidFill>
                  <a:srgbClr val="BFD4E5"/>
                </a:solidFill>
                <a:latin typeface="맑은 고딕" panose="020B0503020000020004" pitchFamily="50" charset="-127"/>
              </a:rPr>
              <a:t>interface / Cessna AOI·geometry → </a:t>
            </a:r>
            <a:r>
              <a:rPr lang="ko-KR" altLang="en-US" sz="1200">
                <a:solidFill>
                  <a:srgbClr val="BFD4E5"/>
                </a:solidFill>
                <a:latin typeface="맑은 고딕" panose="020B0503020000020004" pitchFamily="50" charset="-127"/>
              </a:rPr>
              <a:t>해당 기종</a:t>
            </a:r>
            <a:r>
              <a:rPr lang="en-US" altLang="ko-KR" sz="1200">
                <a:solidFill>
                  <a:srgbClr val="BFD4E5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BFD4E5"/>
                </a:solidFill>
                <a:latin typeface="맑은 고딕" panose="020B0503020000020004" pitchFamily="50" charset="-127"/>
              </a:rPr>
              <a:t>임무 기준</a:t>
            </a:r>
          </a:p>
        </p:txBody>
      </p:sp>
    </p:spTree>
    <p:extLst>
      <p:ext uri="{BB962C8B-B14F-4D97-AF65-F5344CB8AC3E}">
        <p14:creationId xmlns:p14="http://schemas.microsoft.com/office/powerpoint/2010/main" val="254934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F3F7E1-97E1-2932-5A33-037C20BB8C88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06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군 적용 방안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F7E807-96CB-790C-7A01-0D6980BA22A4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해병항공 임무에 맞춰 측정 질문을 다시 설계할 수 있습니다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1F73F-36DE-4436-EC6E-35FDE0172A04}"/>
              </a:ext>
            </a:extLst>
          </p:cNvPr>
          <p:cNvSpPr txBox="1"/>
          <p:nvPr/>
        </p:nvSpPr>
        <p:spPr>
          <a:xfrm>
            <a:off x="533400" y="1117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아래는 현재 구현 완료가 아닌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526171"/>
                </a:solidFill>
                <a:latin typeface="맑은 고딕" panose="020B0503020000020004" pitchFamily="50" charset="-127"/>
              </a:rPr>
              <a:t>군 시뮬레이터 연계 후 검증할 적용 후보입니다</a:t>
            </a:r>
            <a:r>
              <a:rPr lang="en-US" altLang="ko-KR" sz="1300">
                <a:solidFill>
                  <a:srgbClr val="526171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CE83E1D-501C-1F99-50FC-D0D4CB882846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B90E435-9078-5606-298E-60AAF1AED9F3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E0029-8811-AC90-79E7-E83923D8E7B9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14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B473945-18BD-DB04-12A7-6B9652D50577}"/>
              </a:ext>
            </a:extLst>
          </p:cNvPr>
          <p:cNvSpPr/>
          <p:nvPr/>
        </p:nvSpPr>
        <p:spPr>
          <a:xfrm>
            <a:off x="584200" y="1739900"/>
            <a:ext cx="5207000" cy="1778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87A6B3-30C2-D2E8-479C-2549473048CC}"/>
              </a:ext>
            </a:extLst>
          </p:cNvPr>
          <p:cNvSpPr/>
          <p:nvPr/>
        </p:nvSpPr>
        <p:spPr>
          <a:xfrm>
            <a:off x="584200" y="1739900"/>
            <a:ext cx="88900" cy="17780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26514D-F872-7C4C-6934-0BEF4576E954}"/>
              </a:ext>
            </a:extLst>
          </p:cNvPr>
          <p:cNvSpPr txBox="1"/>
          <p:nvPr/>
        </p:nvSpPr>
        <p:spPr>
          <a:xfrm>
            <a:off x="838200" y="19177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01 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함상 이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착함 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저시정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CDE48-5A23-922D-B635-DDACB7A570D4}"/>
              </a:ext>
            </a:extLst>
          </p:cNvPr>
          <p:cNvSpPr txBox="1"/>
          <p:nvPr/>
        </p:nvSpPr>
        <p:spPr>
          <a:xfrm>
            <a:off x="838200" y="2374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외부 기준점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–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계기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scan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전환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접근 안정성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·go-around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판단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A2EF56C-4837-2906-A27E-E07AD9D0D1A4}"/>
              </a:ext>
            </a:extLst>
          </p:cNvPr>
          <p:cNvSpPr/>
          <p:nvPr/>
        </p:nvSpPr>
        <p:spPr>
          <a:xfrm>
            <a:off x="6400800" y="1739900"/>
            <a:ext cx="5207000" cy="1778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D28903-FF23-71BA-40DA-7A87FD7A8775}"/>
              </a:ext>
            </a:extLst>
          </p:cNvPr>
          <p:cNvSpPr/>
          <p:nvPr/>
        </p:nvSpPr>
        <p:spPr>
          <a:xfrm>
            <a:off x="6400800" y="1739900"/>
            <a:ext cx="88900" cy="1778000"/>
          </a:xfrm>
          <a:prstGeom prst="rect">
            <a:avLst/>
          </a:prstGeom>
          <a:solidFill>
            <a:srgbClr val="19B7C9"/>
          </a:solidFill>
          <a:ln w="0">
            <a:solidFill>
              <a:srgbClr val="19B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0FD71D-D8FB-4BFC-A287-C956323EC72C}"/>
              </a:ext>
            </a:extLst>
          </p:cNvPr>
          <p:cNvSpPr txBox="1"/>
          <p:nvPr/>
        </p:nvSpPr>
        <p:spPr>
          <a:xfrm>
            <a:off x="6654800" y="19177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02 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해상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저고도 공중기동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5CC179-7433-05C2-18FD-76198CAF808F}"/>
              </a:ext>
            </a:extLst>
          </p:cNvPr>
          <p:cNvSpPr txBox="1"/>
          <p:nvPr/>
        </p:nvSpPr>
        <p:spPr>
          <a:xfrm>
            <a:off x="6654800" y="2374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지형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장애물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교통 탐색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고도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속도 유지와 외부감시 배분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90D22EC-B891-037F-2E00-13FBDCF6C978}"/>
              </a:ext>
            </a:extLst>
          </p:cNvPr>
          <p:cNvSpPr/>
          <p:nvPr/>
        </p:nvSpPr>
        <p:spPr>
          <a:xfrm>
            <a:off x="584200" y="3860800"/>
            <a:ext cx="5207000" cy="1778000"/>
          </a:xfrm>
          <a:prstGeom prst="roundRect">
            <a:avLst/>
          </a:prstGeom>
          <a:solidFill>
            <a:srgbClr val="FFF6D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608037-4AA0-42AB-9FC6-8D346D1C96CE}"/>
              </a:ext>
            </a:extLst>
          </p:cNvPr>
          <p:cNvSpPr/>
          <p:nvPr/>
        </p:nvSpPr>
        <p:spPr>
          <a:xfrm>
            <a:off x="584200" y="3860800"/>
            <a:ext cx="88900" cy="1778000"/>
          </a:xfrm>
          <a:prstGeom prst="rect">
            <a:avLst/>
          </a:prstGeom>
          <a:solidFill>
            <a:srgbClr val="E5A93D"/>
          </a:solidFill>
          <a:ln w="0">
            <a:solidFill>
              <a:srgbClr val="E5A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A0DAAB-6D26-B59F-1C78-B789594A050E}"/>
              </a:ext>
            </a:extLst>
          </p:cNvPr>
          <p:cNvSpPr txBox="1"/>
          <p:nvPr/>
        </p:nvSpPr>
        <p:spPr>
          <a:xfrm>
            <a:off x="838200" y="40386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03 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야간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악천후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비상절차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0359D0-CCE7-DD75-7DBF-F237DCFC2782}"/>
              </a:ext>
            </a:extLst>
          </p:cNvPr>
          <p:cNvSpPr txBox="1"/>
          <p:nvPr/>
        </p:nvSpPr>
        <p:spPr>
          <a:xfrm>
            <a:off x="838200" y="44958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계기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scan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순서와 고착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경고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–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체크리스트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–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조작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timeline</a:t>
            </a:r>
            <a:endParaRPr lang="ko-KR" altLang="en-US" sz="14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73708EB-597F-B3B9-6A96-F3B7FE01FB7E}"/>
              </a:ext>
            </a:extLst>
          </p:cNvPr>
          <p:cNvSpPr/>
          <p:nvPr/>
        </p:nvSpPr>
        <p:spPr>
          <a:xfrm>
            <a:off x="6400800" y="3860800"/>
            <a:ext cx="5207000" cy="17780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84D99CD-6E79-C00B-B7D2-F137965518E6}"/>
              </a:ext>
            </a:extLst>
          </p:cNvPr>
          <p:cNvSpPr/>
          <p:nvPr/>
        </p:nvSpPr>
        <p:spPr>
          <a:xfrm>
            <a:off x="6400800" y="3860800"/>
            <a:ext cx="88900" cy="1778000"/>
          </a:xfrm>
          <a:prstGeom prst="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007D6C-550C-7334-DC4E-3FA55712E673}"/>
              </a:ext>
            </a:extLst>
          </p:cNvPr>
          <p:cNvSpPr txBox="1"/>
          <p:nvPr/>
        </p:nvSpPr>
        <p:spPr>
          <a:xfrm>
            <a:off x="6654800" y="40386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04  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공중강습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신속대응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7571AD-0B8B-E754-E2C4-BA63A5E53CB4}"/>
              </a:ext>
            </a:extLst>
          </p:cNvPr>
          <p:cNvSpPr txBox="1"/>
          <p:nvPr/>
        </p:nvSpPr>
        <p:spPr>
          <a:xfrm>
            <a:off x="6654800" y="44958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임무정보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외부위협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비행경로 간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주의배분과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crew coordination</a:t>
            </a:r>
            <a:endParaRPr lang="ko-KR" altLang="en-US" sz="14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A7595D-64C7-5AC9-1920-8E8EDAB0383E}"/>
              </a:ext>
            </a:extLst>
          </p:cNvPr>
          <p:cNvSpPr txBox="1"/>
          <p:nvPr/>
        </p:nvSpPr>
        <p:spPr>
          <a:xfrm>
            <a:off x="927100" y="5880100"/>
            <a:ext cx="1033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공통 질문</a:t>
            </a:r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: ‘</a:t>
            </a:r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성공했는가</a:t>
            </a:r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?’ + ‘</a:t>
            </a:r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무엇을 보고</a:t>
            </a:r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어떤 순서로</a:t>
            </a:r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얼마나 일관되게 수행했는가</a:t>
            </a:r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?’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3709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AC08AE-8E3A-DE37-CB73-3DB3F2000368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06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군 적용 방안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8A6FF-9B1A-F858-5D4F-B67E24DAE18D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교관에게 필요한 것은 ‘한 점수’가 아니라 설명 가능한 화면입니다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32841A5-CA04-A1BB-BAE6-B390C24CA1BE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277A2C8-97C1-8DBC-6D17-534BC3D148A2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4E9AB-2C76-7744-0FF4-13F27A3C48CD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15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DA1654D-8400-88B6-3AA0-FC5365CF851A}"/>
              </a:ext>
            </a:extLst>
          </p:cNvPr>
          <p:cNvSpPr/>
          <p:nvPr/>
        </p:nvSpPr>
        <p:spPr>
          <a:xfrm>
            <a:off x="558800" y="15748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A5E54-0939-B2D6-9C0E-0C2ED5F3233C}"/>
              </a:ext>
            </a:extLst>
          </p:cNvPr>
          <p:cNvSpPr txBox="1"/>
          <p:nvPr/>
        </p:nvSpPr>
        <p:spPr>
          <a:xfrm>
            <a:off x="685800" y="1727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1769AA"/>
                </a:solidFill>
                <a:latin typeface="맑은 고딕" panose="020B0503020000020004" pitchFamily="50" charset="-127"/>
              </a:rPr>
              <a:t>2.4 s</a:t>
            </a:r>
            <a:endParaRPr lang="ko-KR" altLang="en-US" sz="2800" b="1">
              <a:solidFill>
                <a:srgbClr val="1769A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8DCC5C-9CFB-5860-1F09-0DB6B413571F}"/>
              </a:ext>
            </a:extLst>
          </p:cNvPr>
          <p:cNvSpPr txBox="1"/>
          <p:nvPr/>
        </p:nvSpPr>
        <p:spPr>
          <a:xfrm>
            <a:off x="711200" y="23114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관측기회→입력변화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394D5DE-7A32-A9B1-C6A0-6C0C67845166}"/>
              </a:ext>
            </a:extLst>
          </p:cNvPr>
          <p:cNvSpPr/>
          <p:nvPr/>
        </p:nvSpPr>
        <p:spPr>
          <a:xfrm>
            <a:off x="3022600" y="15748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E1BEA-E8EE-B6CE-2755-02DAE752F72B}"/>
              </a:ext>
            </a:extLst>
          </p:cNvPr>
          <p:cNvSpPr txBox="1"/>
          <p:nvPr/>
        </p:nvSpPr>
        <p:spPr>
          <a:xfrm>
            <a:off x="3149600" y="1727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2E9E6F"/>
                </a:solidFill>
                <a:latin typeface="맑은 고딕" panose="020B0503020000020004" pitchFamily="50" charset="-127"/>
              </a:rPr>
              <a:t>68%</a:t>
            </a:r>
            <a:endParaRPr lang="ko-KR" altLang="en-US" sz="2800" b="1">
              <a:solidFill>
                <a:srgbClr val="2E9E6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F5FAE2-0449-A8FB-34F1-9391DA183EB5}"/>
              </a:ext>
            </a:extLst>
          </p:cNvPr>
          <p:cNvSpPr txBox="1"/>
          <p:nvPr/>
        </p:nvSpPr>
        <p:spPr>
          <a:xfrm>
            <a:off x="3175000" y="23114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외부환경 </a:t>
            </a:r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attention</a:t>
            </a:r>
            <a:endParaRPr lang="ko-KR" altLang="en-US" sz="12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0F5663B-BC15-13AA-C2A7-125D2224CC67}"/>
              </a:ext>
            </a:extLst>
          </p:cNvPr>
          <p:cNvSpPr/>
          <p:nvPr/>
        </p:nvSpPr>
        <p:spPr>
          <a:xfrm>
            <a:off x="5486400" y="15748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AFC17C-8BCD-C0EB-3E1C-75234970E56B}"/>
              </a:ext>
            </a:extLst>
          </p:cNvPr>
          <p:cNvSpPr txBox="1"/>
          <p:nvPr/>
        </p:nvSpPr>
        <p:spPr>
          <a:xfrm>
            <a:off x="5613400" y="1727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E5A93D"/>
                </a:solidFill>
                <a:latin typeface="맑은 고딕" panose="020B0503020000020004" pitchFamily="50" charset="-127"/>
              </a:rPr>
              <a:t>14</a:t>
            </a:r>
            <a:endParaRPr lang="ko-KR" altLang="en-US" sz="2800" b="1">
              <a:solidFill>
                <a:srgbClr val="E5A93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C0CFDA-5B35-429D-CD76-DEDDE8E70865}"/>
              </a:ext>
            </a:extLst>
          </p:cNvPr>
          <p:cNvSpPr txBox="1"/>
          <p:nvPr/>
        </p:nvSpPr>
        <p:spPr>
          <a:xfrm>
            <a:off x="5638800" y="23114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AOI switches / min</a:t>
            </a:r>
            <a:endParaRPr lang="ko-KR" altLang="en-US" sz="12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BE103DC-FA37-2D27-3942-8906768D2B06}"/>
              </a:ext>
            </a:extLst>
          </p:cNvPr>
          <p:cNvSpPr/>
          <p:nvPr/>
        </p:nvSpPr>
        <p:spPr>
          <a:xfrm>
            <a:off x="7950200" y="15748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F10DE6-4587-DEF0-C8E5-7F01D9EEE26C}"/>
              </a:ext>
            </a:extLst>
          </p:cNvPr>
          <p:cNvSpPr txBox="1"/>
          <p:nvPr/>
        </p:nvSpPr>
        <p:spPr>
          <a:xfrm>
            <a:off x="8077200" y="1727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800" b="1">
                <a:solidFill>
                  <a:srgbClr val="EF6555"/>
                </a:solidFill>
                <a:latin typeface="맑은 고딕" panose="020B0503020000020004" pitchFamily="50" charset="-127"/>
              </a:rPr>
              <a:t>FLAG</a:t>
            </a:r>
            <a:endParaRPr lang="ko-KR" altLang="en-US" sz="2800" b="1">
              <a:solidFill>
                <a:srgbClr val="EF655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DA35B4-3CBF-7DFF-C4A5-F321CA2EC66B}"/>
              </a:ext>
            </a:extLst>
          </p:cNvPr>
          <p:cNvSpPr txBox="1"/>
          <p:nvPr/>
        </p:nvSpPr>
        <p:spPr>
          <a:xfrm>
            <a:off x="8102600" y="23114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526171"/>
                </a:solidFill>
                <a:latin typeface="맑은 고딕" panose="020B0503020000020004" pitchFamily="50" charset="-127"/>
              </a:rPr>
              <a:t>active control at anchor</a:t>
            </a:r>
            <a:endParaRPr lang="ko-KR" altLang="en-US" sz="12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0D7C4AE-5683-88E6-92B9-69E695642CA8}"/>
              </a:ext>
            </a:extLst>
          </p:cNvPr>
          <p:cNvSpPr/>
          <p:nvPr/>
        </p:nvSpPr>
        <p:spPr>
          <a:xfrm>
            <a:off x="558800" y="3009900"/>
            <a:ext cx="96774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2D1943-2713-A2E4-E8A7-2EB0415077A9}"/>
              </a:ext>
            </a:extLst>
          </p:cNvPr>
          <p:cNvSpPr txBox="1"/>
          <p:nvPr/>
        </p:nvSpPr>
        <p:spPr>
          <a:xfrm>
            <a:off x="787400" y="3149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526171"/>
                </a:solidFill>
                <a:latin typeface="맑은 고딕" panose="020B0503020000020004" pitchFamily="50" charset="-127"/>
              </a:rPr>
              <a:t>EVENT TIMELINE</a:t>
            </a:r>
            <a:endParaRPr lang="ko-KR" altLang="en-US" sz="11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697D64D-652E-1CF4-AB5E-B7A379E09B53}"/>
              </a:ext>
            </a:extLst>
          </p:cNvPr>
          <p:cNvCxnSpPr/>
          <p:nvPr/>
        </p:nvCxnSpPr>
        <p:spPr>
          <a:xfrm>
            <a:off x="1054100" y="3708400"/>
            <a:ext cx="8623300" cy="0"/>
          </a:xfrm>
          <a:prstGeom prst="line">
            <a:avLst/>
          </a:prstGeom>
          <a:ln w="381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2E992631-9C8D-403C-7662-C3E9FBCD0BED}"/>
              </a:ext>
            </a:extLst>
          </p:cNvPr>
          <p:cNvSpPr/>
          <p:nvPr/>
        </p:nvSpPr>
        <p:spPr>
          <a:xfrm>
            <a:off x="1803400" y="3606800"/>
            <a:ext cx="203200" cy="203200"/>
          </a:xfrm>
          <a:prstGeom prst="ellipse">
            <a:avLst/>
          </a:prstGeom>
          <a:solidFill>
            <a:srgbClr val="EF6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908306-9088-559F-4047-8484353531B5}"/>
              </a:ext>
            </a:extLst>
          </p:cNvPr>
          <p:cNvSpPr txBox="1"/>
          <p:nvPr/>
        </p:nvSpPr>
        <p:spPr>
          <a:xfrm>
            <a:off x="1803400" y="3606800"/>
            <a:ext cx="20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8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4B2EF7-0146-75FA-D98E-FFA108B5C06A}"/>
              </a:ext>
            </a:extLst>
          </p:cNvPr>
          <p:cNvSpPr txBox="1"/>
          <p:nvPr/>
        </p:nvSpPr>
        <p:spPr>
          <a:xfrm>
            <a:off x="1447800" y="38354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rgbClr val="526171"/>
                </a:solidFill>
                <a:latin typeface="맑은 고딕" panose="020B0503020000020004" pitchFamily="50" charset="-127"/>
              </a:rPr>
              <a:t>경고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DDD380C-0F52-C7FE-502E-14F18492A412}"/>
              </a:ext>
            </a:extLst>
          </p:cNvPr>
          <p:cNvSpPr/>
          <p:nvPr/>
        </p:nvSpPr>
        <p:spPr>
          <a:xfrm>
            <a:off x="3708400" y="3606800"/>
            <a:ext cx="203200" cy="203200"/>
          </a:xfrm>
          <a:prstGeom prst="ellipse">
            <a:avLst/>
          </a:prstGeom>
          <a:solidFill>
            <a:srgbClr val="176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5899F3-C9C4-B4E7-3802-4B14AFEA8A63}"/>
              </a:ext>
            </a:extLst>
          </p:cNvPr>
          <p:cNvSpPr txBox="1"/>
          <p:nvPr/>
        </p:nvSpPr>
        <p:spPr>
          <a:xfrm>
            <a:off x="3708400" y="3606800"/>
            <a:ext cx="20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8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42AA23-98DC-FCB9-EE45-D946F15F6A2E}"/>
              </a:ext>
            </a:extLst>
          </p:cNvPr>
          <p:cNvSpPr txBox="1"/>
          <p:nvPr/>
        </p:nvSpPr>
        <p:spPr>
          <a:xfrm>
            <a:off x="3352800" y="38354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rgbClr val="526171"/>
                </a:solidFill>
                <a:latin typeface="맑은 고딕" panose="020B0503020000020004" pitchFamily="50" charset="-127"/>
              </a:rPr>
              <a:t>계기확인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88F7037-F984-8F4E-E045-7066B6E3D039}"/>
              </a:ext>
            </a:extLst>
          </p:cNvPr>
          <p:cNvSpPr/>
          <p:nvPr/>
        </p:nvSpPr>
        <p:spPr>
          <a:xfrm>
            <a:off x="5676900" y="3606800"/>
            <a:ext cx="203200" cy="203200"/>
          </a:xfrm>
          <a:prstGeom prst="ellipse">
            <a:avLst/>
          </a:prstGeom>
          <a:solidFill>
            <a:srgbClr val="2E9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A426F7-B22A-6F7E-7E6D-D3D069AC3E74}"/>
              </a:ext>
            </a:extLst>
          </p:cNvPr>
          <p:cNvSpPr txBox="1"/>
          <p:nvPr/>
        </p:nvSpPr>
        <p:spPr>
          <a:xfrm>
            <a:off x="5676900" y="3606800"/>
            <a:ext cx="20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8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8D11B1-BF59-0440-5078-791D94D07B20}"/>
              </a:ext>
            </a:extLst>
          </p:cNvPr>
          <p:cNvSpPr txBox="1"/>
          <p:nvPr/>
        </p:nvSpPr>
        <p:spPr>
          <a:xfrm>
            <a:off x="5321300" y="38354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rgbClr val="526171"/>
                </a:solidFill>
                <a:latin typeface="맑은 고딕" panose="020B0503020000020004" pitchFamily="50" charset="-127"/>
              </a:rPr>
              <a:t>외부탐색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29E7B84-CC9D-CD10-B53D-FCBB2699CEF7}"/>
              </a:ext>
            </a:extLst>
          </p:cNvPr>
          <p:cNvSpPr/>
          <p:nvPr/>
        </p:nvSpPr>
        <p:spPr>
          <a:xfrm>
            <a:off x="7772400" y="3606800"/>
            <a:ext cx="203200" cy="203200"/>
          </a:xfrm>
          <a:prstGeom prst="ellipse">
            <a:avLst/>
          </a:prstGeom>
          <a:solidFill>
            <a:srgbClr val="E5A9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42229E-05F0-1FA3-6034-84FE7E8A3F34}"/>
              </a:ext>
            </a:extLst>
          </p:cNvPr>
          <p:cNvSpPr txBox="1"/>
          <p:nvPr/>
        </p:nvSpPr>
        <p:spPr>
          <a:xfrm>
            <a:off x="7772400" y="3606800"/>
            <a:ext cx="20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8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755382-258D-6238-7FB1-0D86E349AA49}"/>
              </a:ext>
            </a:extLst>
          </p:cNvPr>
          <p:cNvSpPr txBox="1"/>
          <p:nvPr/>
        </p:nvSpPr>
        <p:spPr>
          <a:xfrm>
            <a:off x="7416800" y="38354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rgbClr val="526171"/>
                </a:solidFill>
                <a:latin typeface="맑은 고딕" panose="020B0503020000020004" pitchFamily="50" charset="-127"/>
              </a:rPr>
              <a:t>조작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60E156-FEAE-1798-7C3D-44E7B30874E0}"/>
              </a:ext>
            </a:extLst>
          </p:cNvPr>
          <p:cNvSpPr/>
          <p:nvPr/>
        </p:nvSpPr>
        <p:spPr>
          <a:xfrm>
            <a:off x="9232900" y="3606800"/>
            <a:ext cx="203200" cy="203200"/>
          </a:xfrm>
          <a:prstGeom prst="ellipse">
            <a:avLst/>
          </a:prstGeom>
          <a:solidFill>
            <a:srgbClr val="071B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E534B8-F951-9D64-DC31-93DF88F57FE0}"/>
              </a:ext>
            </a:extLst>
          </p:cNvPr>
          <p:cNvSpPr txBox="1"/>
          <p:nvPr/>
        </p:nvSpPr>
        <p:spPr>
          <a:xfrm>
            <a:off x="9232900" y="3606800"/>
            <a:ext cx="20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endParaRPr lang="ko-KR" altLang="en-US" sz="8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2A9418-E957-88DB-8D94-709BD0DECD98}"/>
              </a:ext>
            </a:extLst>
          </p:cNvPr>
          <p:cNvSpPr txBox="1"/>
          <p:nvPr/>
        </p:nvSpPr>
        <p:spPr>
          <a:xfrm>
            <a:off x="8877300" y="38354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rgbClr val="526171"/>
                </a:solidFill>
                <a:latin typeface="맑은 고딕" panose="020B0503020000020004" pitchFamily="50" charset="-127"/>
              </a:rPr>
              <a:t>안정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F26EF6D-4ED0-8414-9912-3583738A49C7}"/>
              </a:ext>
            </a:extLst>
          </p:cNvPr>
          <p:cNvSpPr/>
          <p:nvPr/>
        </p:nvSpPr>
        <p:spPr>
          <a:xfrm>
            <a:off x="558800" y="4445000"/>
            <a:ext cx="6223000" cy="14732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1F7FF0-CD48-0210-A415-04394CC9747E}"/>
              </a:ext>
            </a:extLst>
          </p:cNvPr>
          <p:cNvSpPr txBox="1"/>
          <p:nvPr/>
        </p:nvSpPr>
        <p:spPr>
          <a:xfrm>
            <a:off x="812800" y="46355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1769AA"/>
                </a:solidFill>
                <a:latin typeface="맑은 고딕" panose="020B0503020000020004" pitchFamily="50" charset="-127"/>
              </a:rPr>
              <a:t>교관 확인 질문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F39A4B-610F-70E8-6651-C4044ECDFFCB}"/>
              </a:ext>
            </a:extLst>
          </p:cNvPr>
          <p:cNvSpPr txBox="1"/>
          <p:nvPr/>
        </p:nvSpPr>
        <p:spPr>
          <a:xfrm>
            <a:off x="838200" y="5041900"/>
            <a:ext cx="561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왜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20 px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이후에도 특정 계기에 머물렀는가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• SOP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상 먼저 확인해야 할 정보가 누락됐는가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같은 상황을 다시 수행하면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scan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이 개선되는가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?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825073E-A2A6-E48E-429C-1D3360514CD5}"/>
              </a:ext>
            </a:extLst>
          </p:cNvPr>
          <p:cNvSpPr/>
          <p:nvPr/>
        </p:nvSpPr>
        <p:spPr>
          <a:xfrm>
            <a:off x="7035800" y="4445000"/>
            <a:ext cx="4470400" cy="14732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B56BA8-3BC0-BCEF-9431-DAAB0AB5934D}"/>
              </a:ext>
            </a:extLst>
          </p:cNvPr>
          <p:cNvSpPr txBox="1"/>
          <p:nvPr/>
        </p:nvSpPr>
        <p:spPr>
          <a:xfrm>
            <a:off x="7302500" y="4635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600" b="1">
                <a:solidFill>
                  <a:srgbClr val="2E9E6F"/>
                </a:solidFill>
                <a:latin typeface="맑은 고딕" panose="020B0503020000020004" pitchFamily="50" charset="-127"/>
              </a:rPr>
              <a:t>개인 발전 추적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19B153-DB22-5892-B76C-D05CE0DF8BAD}"/>
              </a:ext>
            </a:extLst>
          </p:cNvPr>
          <p:cNvSpPr txBox="1"/>
          <p:nvPr/>
        </p:nvSpPr>
        <p:spPr>
          <a:xfrm>
            <a:off x="7302500" y="5092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동일 조종사 반복훈련에서</a:t>
            </a:r>
          </a:p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반응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·scan·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절차 편차의 변화 확인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27BCCE6-A6B0-575E-467D-4CA077407226}"/>
              </a:ext>
            </a:extLst>
          </p:cNvPr>
          <p:cNvSpPr/>
          <p:nvPr/>
        </p:nvSpPr>
        <p:spPr>
          <a:xfrm>
            <a:off x="10261600" y="1574800"/>
            <a:ext cx="1244600" cy="304800"/>
          </a:xfrm>
          <a:prstGeom prst="roundRect">
            <a:avLst/>
          </a:prstGeom>
          <a:solidFill>
            <a:srgbClr val="526171"/>
          </a:solidFill>
          <a:ln w="0">
            <a:solidFill>
              <a:srgbClr val="52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6656CB-54D8-0385-CE68-D4E74B9F3534}"/>
              </a:ext>
            </a:extLst>
          </p:cNvPr>
          <p:cNvSpPr txBox="1"/>
          <p:nvPr/>
        </p:nvSpPr>
        <p:spPr>
          <a:xfrm>
            <a:off x="10363200" y="15875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개념 화면</a:t>
            </a:r>
          </a:p>
        </p:txBody>
      </p:sp>
    </p:spTree>
    <p:extLst>
      <p:ext uri="{BB962C8B-B14F-4D97-AF65-F5344CB8AC3E}">
        <p14:creationId xmlns:p14="http://schemas.microsoft.com/office/powerpoint/2010/main" val="1343223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8AE9CB-B087-B10B-E82B-096C29646AC9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07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발전 로드맵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0C755-8FBD-A53B-A506-41F7165188D2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AI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는 데이터 표준화 이후에 단계적으로 도입해야 합니다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4B26E6C-8267-2F4E-8E12-707A3C844D9A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4283DB5-54F5-22D1-9FF7-EF5241FDF5A0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03B9B-A99B-50AC-19CC-AD2AE2D7EBE6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16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331A3EA-5CB3-EEB2-4E73-52BDD9D84B9C}"/>
              </a:ext>
            </a:extLst>
          </p:cNvPr>
          <p:cNvSpPr/>
          <p:nvPr/>
        </p:nvSpPr>
        <p:spPr>
          <a:xfrm>
            <a:off x="584200" y="1968500"/>
            <a:ext cx="2489200" cy="279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2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5532FB4-59DB-68A7-4C19-8DE083E6F904}"/>
              </a:ext>
            </a:extLst>
          </p:cNvPr>
          <p:cNvSpPr/>
          <p:nvPr/>
        </p:nvSpPr>
        <p:spPr>
          <a:xfrm>
            <a:off x="1473200" y="1587500"/>
            <a:ext cx="711200" cy="711200"/>
          </a:xfrm>
          <a:prstGeom prst="ellipse">
            <a:avLst/>
          </a:prstGeom>
          <a:solidFill>
            <a:srgbClr val="5261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5078E-0A0C-B37A-139A-E1C54C6B635D}"/>
              </a:ext>
            </a:extLst>
          </p:cNvPr>
          <p:cNvSpPr txBox="1"/>
          <p:nvPr/>
        </p:nvSpPr>
        <p:spPr>
          <a:xfrm>
            <a:off x="1473200" y="1587500"/>
            <a:ext cx="71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0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302FB-BE9D-715C-1E89-ADDF54958360}"/>
              </a:ext>
            </a:extLst>
          </p:cNvPr>
          <p:cNvSpPr txBox="1"/>
          <p:nvPr/>
        </p:nvSpPr>
        <p:spPr>
          <a:xfrm>
            <a:off x="762000" y="25781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동기화 데이터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F74C71-85E4-97BC-60F3-31458161D507}"/>
              </a:ext>
            </a:extLst>
          </p:cNvPr>
          <p:cNvSpPr txBox="1"/>
          <p:nvPr/>
        </p:nvSpPr>
        <p:spPr>
          <a:xfrm>
            <a:off x="812800" y="3200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상태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입력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시선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·event</a:t>
            </a:r>
          </a:p>
          <a:p>
            <a:pPr algn="ctr"/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품질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flag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와 원본 감사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5663BD-724B-0568-DB5F-E91B7DC22EE3}"/>
              </a:ext>
            </a:extLst>
          </p:cNvPr>
          <p:cNvCxnSpPr/>
          <p:nvPr/>
        </p:nvCxnSpPr>
        <p:spPr>
          <a:xfrm>
            <a:off x="3073400" y="3365500"/>
            <a:ext cx="304800" cy="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B80BD1-FD56-51F3-4E4F-A81856C1D8E3}"/>
              </a:ext>
            </a:extLst>
          </p:cNvPr>
          <p:cNvSpPr/>
          <p:nvPr/>
        </p:nvSpPr>
        <p:spPr>
          <a:xfrm>
            <a:off x="3429000" y="1968500"/>
            <a:ext cx="2489200" cy="279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B563273-5D79-D762-32C7-DDBE29401531}"/>
              </a:ext>
            </a:extLst>
          </p:cNvPr>
          <p:cNvSpPr/>
          <p:nvPr/>
        </p:nvSpPr>
        <p:spPr>
          <a:xfrm>
            <a:off x="4318000" y="1587500"/>
            <a:ext cx="711200" cy="711200"/>
          </a:xfrm>
          <a:prstGeom prst="ellipse">
            <a:avLst/>
          </a:prstGeom>
          <a:solidFill>
            <a:srgbClr val="176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91FF97-0055-FCE1-F130-BB1C093CA957}"/>
              </a:ext>
            </a:extLst>
          </p:cNvPr>
          <p:cNvSpPr txBox="1"/>
          <p:nvPr/>
        </p:nvSpPr>
        <p:spPr>
          <a:xfrm>
            <a:off x="4318000" y="1587500"/>
            <a:ext cx="71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D0CBCA-D0AB-AC1D-F2B5-C2C9846099D2}"/>
              </a:ext>
            </a:extLst>
          </p:cNvPr>
          <p:cNvSpPr txBox="1"/>
          <p:nvPr/>
        </p:nvSpPr>
        <p:spPr>
          <a:xfrm>
            <a:off x="3606800" y="25781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SOP </a:t>
            </a:r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규칙모델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9342C8-8AF4-0004-5902-8881EDC4ACB8}"/>
              </a:ext>
            </a:extLst>
          </p:cNvPr>
          <p:cNvSpPr txBox="1"/>
          <p:nvPr/>
        </p:nvSpPr>
        <p:spPr>
          <a:xfrm>
            <a:off x="3657600" y="3200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필수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scan·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조작 순서</a:t>
            </a:r>
          </a:p>
          <a:p>
            <a:pPr algn="ctr"/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교관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rubric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디지털화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99C74A4-F960-74EE-32D2-EBB624F5DA1D}"/>
              </a:ext>
            </a:extLst>
          </p:cNvPr>
          <p:cNvCxnSpPr/>
          <p:nvPr/>
        </p:nvCxnSpPr>
        <p:spPr>
          <a:xfrm>
            <a:off x="5918200" y="3365500"/>
            <a:ext cx="304800" cy="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D832915-6700-059A-E2B4-EC97513E4386}"/>
              </a:ext>
            </a:extLst>
          </p:cNvPr>
          <p:cNvSpPr/>
          <p:nvPr/>
        </p:nvSpPr>
        <p:spPr>
          <a:xfrm>
            <a:off x="6273800" y="1968500"/>
            <a:ext cx="2489200" cy="279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9B5C5BF-201B-ECD9-21E0-16977CD1CFD6}"/>
              </a:ext>
            </a:extLst>
          </p:cNvPr>
          <p:cNvSpPr/>
          <p:nvPr/>
        </p:nvSpPr>
        <p:spPr>
          <a:xfrm>
            <a:off x="7162800" y="1587500"/>
            <a:ext cx="711200" cy="711200"/>
          </a:xfrm>
          <a:prstGeom prst="ellipse">
            <a:avLst/>
          </a:prstGeom>
          <a:solidFill>
            <a:srgbClr val="2E9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B63F72-9504-E473-41DA-BA2B79FBE196}"/>
              </a:ext>
            </a:extLst>
          </p:cNvPr>
          <p:cNvSpPr txBox="1"/>
          <p:nvPr/>
        </p:nvSpPr>
        <p:spPr>
          <a:xfrm>
            <a:off x="7162800" y="1587500"/>
            <a:ext cx="71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BC86F1-D4F6-4340-C240-5674848BD9DD}"/>
              </a:ext>
            </a:extLst>
          </p:cNvPr>
          <p:cNvSpPr txBox="1"/>
          <p:nvPr/>
        </p:nvSpPr>
        <p:spPr>
          <a:xfrm>
            <a:off x="6451600" y="25781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숙련 기준모델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01FDA5-18A7-9A0B-91F6-2D55E044EB6A}"/>
              </a:ext>
            </a:extLst>
          </p:cNvPr>
          <p:cNvSpPr txBox="1"/>
          <p:nvPr/>
        </p:nvSpPr>
        <p:spPr>
          <a:xfrm>
            <a:off x="6502400" y="3200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교관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숙련자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Matrix</a:t>
            </a:r>
          </a:p>
          <a:p>
            <a:pPr algn="ctr"/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임무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조건별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baseline</a:t>
            </a:r>
            <a:endParaRPr lang="ko-KR" altLang="en-US" sz="14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19E48AD-5C5D-848E-297B-2ACCA90D6FD8}"/>
              </a:ext>
            </a:extLst>
          </p:cNvPr>
          <p:cNvCxnSpPr/>
          <p:nvPr/>
        </p:nvCxnSpPr>
        <p:spPr>
          <a:xfrm>
            <a:off x="8763000" y="3365500"/>
            <a:ext cx="304800" cy="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F85B5A8-8C06-1BF2-FF6A-8B82CDC80425}"/>
              </a:ext>
            </a:extLst>
          </p:cNvPr>
          <p:cNvSpPr/>
          <p:nvPr/>
        </p:nvSpPr>
        <p:spPr>
          <a:xfrm>
            <a:off x="9118600" y="1968500"/>
            <a:ext cx="2489200" cy="279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0CC1FA9-554F-B182-9691-69EBDE2CEE07}"/>
              </a:ext>
            </a:extLst>
          </p:cNvPr>
          <p:cNvSpPr/>
          <p:nvPr/>
        </p:nvSpPr>
        <p:spPr>
          <a:xfrm>
            <a:off x="10007600" y="1587500"/>
            <a:ext cx="711200" cy="711200"/>
          </a:xfrm>
          <a:prstGeom prst="ellipse">
            <a:avLst/>
          </a:prstGeom>
          <a:solidFill>
            <a:srgbClr val="EF6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A84891-625F-9220-2C27-3A0DC8D3E6C1}"/>
              </a:ext>
            </a:extLst>
          </p:cNvPr>
          <p:cNvSpPr txBox="1"/>
          <p:nvPr/>
        </p:nvSpPr>
        <p:spPr>
          <a:xfrm>
            <a:off x="10007600" y="1587500"/>
            <a:ext cx="71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3ABB19-DE66-7345-217A-8FD49C51FC95}"/>
              </a:ext>
            </a:extLst>
          </p:cNvPr>
          <p:cNvSpPr txBox="1"/>
          <p:nvPr/>
        </p:nvSpPr>
        <p:spPr>
          <a:xfrm>
            <a:off x="9296400" y="25781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개인화 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AI</a:t>
            </a:r>
            <a:endParaRPr lang="ko-KR" altLang="en-US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C0C1D-1D06-2C88-3DCF-D64FEB8BB273}"/>
              </a:ext>
            </a:extLst>
          </p:cNvPr>
          <p:cNvSpPr txBox="1"/>
          <p:nvPr/>
        </p:nvSpPr>
        <p:spPr>
          <a:xfrm>
            <a:off x="9347200" y="3200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반복 패턴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이상 편차</a:t>
            </a:r>
          </a:p>
          <a:p>
            <a:pPr algn="ctr"/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다음 훈련 추천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7181ED6-CE4A-C832-349F-DBD21E9A837F}"/>
              </a:ext>
            </a:extLst>
          </p:cNvPr>
          <p:cNvSpPr/>
          <p:nvPr/>
        </p:nvSpPr>
        <p:spPr>
          <a:xfrm>
            <a:off x="1422400" y="5257800"/>
            <a:ext cx="9347200" cy="685800"/>
          </a:xfrm>
          <a:prstGeom prst="roundRect">
            <a:avLst/>
          </a:prstGeom>
          <a:solidFill>
            <a:srgbClr val="FFF6DF"/>
          </a:solidFill>
          <a:ln w="12700">
            <a:solidFill>
              <a:srgbClr val="E5A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ACA7A9-6E80-0077-C3BB-BDE8E03B7DE9}"/>
              </a:ext>
            </a:extLst>
          </p:cNvPr>
          <p:cNvSpPr txBox="1"/>
          <p:nvPr/>
        </p:nvSpPr>
        <p:spPr>
          <a:xfrm>
            <a:off x="1676400" y="5435600"/>
            <a:ext cx="883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700" b="1">
                <a:solidFill>
                  <a:srgbClr val="E5A93D"/>
                </a:solidFill>
                <a:latin typeface="맑은 고딕" panose="020B0503020000020004" pitchFamily="50" charset="-127"/>
              </a:rPr>
              <a:t>단계별 검증 </a:t>
            </a:r>
            <a:r>
              <a:rPr lang="en-US" altLang="ko-KR" sz="1700" b="1">
                <a:solidFill>
                  <a:srgbClr val="E5A93D"/>
                </a:solidFill>
                <a:latin typeface="맑은 고딕" panose="020B0503020000020004" pitchFamily="50" charset="-127"/>
              </a:rPr>
              <a:t>gate</a:t>
            </a:r>
            <a:r>
              <a:rPr lang="ko-KR" altLang="en-US" sz="1700" b="1">
                <a:solidFill>
                  <a:srgbClr val="E5A93D"/>
                </a:solidFill>
                <a:latin typeface="맑은 고딕" panose="020B0503020000020004" pitchFamily="50" charset="-127"/>
              </a:rPr>
              <a:t>를 통과하기 전에는 다음 단계의 자동 판단을 운용하지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1008431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0650EB-9270-9493-0289-7B6198229CDC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08  </a:t>
            </a:r>
            <a:r>
              <a:rPr lang="ko-KR" altLang="en-US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제안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B9C0B-E569-8EA2-962A-A5A2D46DF3A1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주 기술실증으로 ‘연결 가능성’부터 확인할 수 있습니다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BCD611D-F301-C9D7-3E79-FFEA28B5884A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32A136-E8CE-2962-5622-41C5AE408527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A830F-EFDA-DD66-16CB-9438FF84F949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17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0855051-6188-3D67-CE92-E2091389BD31}"/>
              </a:ext>
            </a:extLst>
          </p:cNvPr>
          <p:cNvSpPr/>
          <p:nvPr/>
        </p:nvSpPr>
        <p:spPr>
          <a:xfrm>
            <a:off x="558800" y="1828800"/>
            <a:ext cx="2489200" cy="203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06D87C1-BF75-F816-6611-10EC3EE0B4D0}"/>
              </a:ext>
            </a:extLst>
          </p:cNvPr>
          <p:cNvSpPr/>
          <p:nvPr/>
        </p:nvSpPr>
        <p:spPr>
          <a:xfrm>
            <a:off x="787400" y="1600200"/>
            <a:ext cx="1041400" cy="304800"/>
          </a:xfrm>
          <a:prstGeom prst="round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9E1E1-2723-5B4F-73F6-D271F609E568}"/>
              </a:ext>
            </a:extLst>
          </p:cNvPr>
          <p:cNvSpPr txBox="1"/>
          <p:nvPr/>
        </p:nvSpPr>
        <p:spPr>
          <a:xfrm>
            <a:off x="889000" y="1612900"/>
            <a:ext cx="83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1–2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58986-FE63-1B48-D1C9-7AA86A9794F3}"/>
              </a:ext>
            </a:extLst>
          </p:cNvPr>
          <p:cNvSpPr txBox="1"/>
          <p:nvPr/>
        </p:nvSpPr>
        <p:spPr>
          <a:xfrm>
            <a:off x="736600" y="2159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Interface </a:t>
            </a:r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확인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F63D0-9396-57DA-9DD3-F128533B30FD}"/>
              </a:ext>
            </a:extLst>
          </p:cNvPr>
          <p:cNvSpPr txBox="1"/>
          <p:nvPr/>
        </p:nvSpPr>
        <p:spPr>
          <a:xfrm>
            <a:off x="749300" y="2743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상태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입력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·event export</a:t>
            </a:r>
          </a:p>
          <a:p>
            <a:pPr algn="ctr"/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시간기준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·ICD·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보안경계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4154630-7D6B-650B-0A6A-0A9B9DE03C7C}"/>
              </a:ext>
            </a:extLst>
          </p:cNvPr>
          <p:cNvCxnSpPr/>
          <p:nvPr/>
        </p:nvCxnSpPr>
        <p:spPr>
          <a:xfrm>
            <a:off x="3048000" y="2844800"/>
            <a:ext cx="266700" cy="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8D9D0CC-6550-45AA-C38C-C5B7BDCF1537}"/>
              </a:ext>
            </a:extLst>
          </p:cNvPr>
          <p:cNvSpPr/>
          <p:nvPr/>
        </p:nvSpPr>
        <p:spPr>
          <a:xfrm>
            <a:off x="3352800" y="1828800"/>
            <a:ext cx="2489200" cy="203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B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7545A7F-DDB3-B40D-5CAB-5F4A9A211405}"/>
              </a:ext>
            </a:extLst>
          </p:cNvPr>
          <p:cNvSpPr/>
          <p:nvPr/>
        </p:nvSpPr>
        <p:spPr>
          <a:xfrm>
            <a:off x="3581400" y="1600200"/>
            <a:ext cx="1041400" cy="304800"/>
          </a:xfrm>
          <a:prstGeom prst="roundRect">
            <a:avLst/>
          </a:prstGeom>
          <a:solidFill>
            <a:srgbClr val="19B7C9"/>
          </a:solidFill>
          <a:ln w="0">
            <a:solidFill>
              <a:srgbClr val="19B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F97C32-EED9-7E5C-4B0A-C76C40F8A18A}"/>
              </a:ext>
            </a:extLst>
          </p:cNvPr>
          <p:cNvSpPr txBox="1"/>
          <p:nvPr/>
        </p:nvSpPr>
        <p:spPr>
          <a:xfrm>
            <a:off x="3683000" y="1612900"/>
            <a:ext cx="83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3–6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D4724C-1D07-A472-5D68-3D788C23BADD}"/>
              </a:ext>
            </a:extLst>
          </p:cNvPr>
          <p:cNvSpPr txBox="1"/>
          <p:nvPr/>
        </p:nvSpPr>
        <p:spPr>
          <a:xfrm>
            <a:off x="3530600" y="2159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Adapter </a:t>
            </a:r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제작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F36A93-9B65-1F16-E8AE-89C07BEC47BE}"/>
              </a:ext>
            </a:extLst>
          </p:cNvPr>
          <p:cNvSpPr txBox="1"/>
          <p:nvPr/>
        </p:nvSpPr>
        <p:spPr>
          <a:xfrm>
            <a:off x="3543300" y="2743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공통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data contract</a:t>
            </a:r>
          </a:p>
          <a:p>
            <a:pPr algn="ctr"/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폐쇄망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logger·audit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C1ADF3D-D6A0-5F86-83D4-839144E07D8D}"/>
              </a:ext>
            </a:extLst>
          </p:cNvPr>
          <p:cNvCxnSpPr/>
          <p:nvPr/>
        </p:nvCxnSpPr>
        <p:spPr>
          <a:xfrm>
            <a:off x="5842000" y="2844800"/>
            <a:ext cx="266700" cy="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60EDF0C-B765-4CEB-EC75-652393AF1CA7}"/>
              </a:ext>
            </a:extLst>
          </p:cNvPr>
          <p:cNvSpPr/>
          <p:nvPr/>
        </p:nvSpPr>
        <p:spPr>
          <a:xfrm>
            <a:off x="6146800" y="1828800"/>
            <a:ext cx="2489200" cy="203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112C124-16BC-0181-BD94-ACF1416CF109}"/>
              </a:ext>
            </a:extLst>
          </p:cNvPr>
          <p:cNvSpPr/>
          <p:nvPr/>
        </p:nvSpPr>
        <p:spPr>
          <a:xfrm>
            <a:off x="6375400" y="1600200"/>
            <a:ext cx="1041400" cy="304800"/>
          </a:xfrm>
          <a:prstGeom prst="round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30233B-F247-1B29-E50A-AEBF12DC77CC}"/>
              </a:ext>
            </a:extLst>
          </p:cNvPr>
          <p:cNvSpPr txBox="1"/>
          <p:nvPr/>
        </p:nvSpPr>
        <p:spPr>
          <a:xfrm>
            <a:off x="6477000" y="1612900"/>
            <a:ext cx="83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7–9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3A23BA-F8EB-4E0F-13AF-FAC5F4685395}"/>
              </a:ext>
            </a:extLst>
          </p:cNvPr>
          <p:cNvSpPr txBox="1"/>
          <p:nvPr/>
        </p:nvSpPr>
        <p:spPr>
          <a:xfrm>
            <a:off x="6324600" y="2159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시나리오</a:t>
            </a:r>
            <a:r>
              <a:rPr lang="en-US" altLang="ko-KR" b="1">
                <a:solidFill>
                  <a:srgbClr val="071B33"/>
                </a:solidFill>
                <a:latin typeface="맑은 고딕" panose="020B0503020000020004" pitchFamily="50" charset="-127"/>
              </a:rPr>
              <a:t>·rubric</a:t>
            </a:r>
            <a:endParaRPr lang="ko-KR" altLang="en-US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1470FA-E329-1A87-1D75-7C8D7E2B4BAC}"/>
              </a:ext>
            </a:extLst>
          </p:cNvPr>
          <p:cNvSpPr txBox="1"/>
          <p:nvPr/>
        </p:nvSpPr>
        <p:spPr>
          <a:xfrm>
            <a:off x="6337300" y="2743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교관과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AOI·event·SOP</a:t>
            </a:r>
          </a:p>
          <a:p>
            <a:pPr algn="ctr"/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판정 기준 공동 설계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6194C38-CB39-13AD-7139-C3E93584C2AD}"/>
              </a:ext>
            </a:extLst>
          </p:cNvPr>
          <p:cNvCxnSpPr/>
          <p:nvPr/>
        </p:nvCxnSpPr>
        <p:spPr>
          <a:xfrm>
            <a:off x="8636000" y="2844800"/>
            <a:ext cx="266700" cy="0"/>
          </a:xfrm>
          <a:prstGeom prst="line">
            <a:avLst/>
          </a:prstGeom>
          <a:ln w="25400">
            <a:solidFill>
              <a:srgbClr val="071B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3E29CA7-06A7-CE75-37ED-822FC2C2C7CA}"/>
              </a:ext>
            </a:extLst>
          </p:cNvPr>
          <p:cNvSpPr/>
          <p:nvPr/>
        </p:nvSpPr>
        <p:spPr>
          <a:xfrm>
            <a:off x="8940800" y="1828800"/>
            <a:ext cx="2489200" cy="203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C7CB930-AA2D-E470-4C13-E3665AF21E51}"/>
              </a:ext>
            </a:extLst>
          </p:cNvPr>
          <p:cNvSpPr/>
          <p:nvPr/>
        </p:nvSpPr>
        <p:spPr>
          <a:xfrm>
            <a:off x="9169400" y="1600200"/>
            <a:ext cx="1041400" cy="304800"/>
          </a:xfrm>
          <a:prstGeom prst="round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8C650E-8A74-A4F8-3BCD-A662B83E0037}"/>
              </a:ext>
            </a:extLst>
          </p:cNvPr>
          <p:cNvSpPr txBox="1"/>
          <p:nvPr/>
        </p:nvSpPr>
        <p:spPr>
          <a:xfrm>
            <a:off x="9271000" y="1612900"/>
            <a:ext cx="83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10–12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E15DE2-493C-4CC0-F6BF-6997FFE62AC4}"/>
              </a:ext>
            </a:extLst>
          </p:cNvPr>
          <p:cNvSpPr txBox="1"/>
          <p:nvPr/>
        </p:nvSpPr>
        <p:spPr>
          <a:xfrm>
            <a:off x="9118600" y="2159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071B33"/>
                </a:solidFill>
                <a:latin typeface="맑은 고딕" panose="020B0503020000020004" pitchFamily="50" charset="-127"/>
              </a:rPr>
              <a:t>소규모 검증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95ADB4-134A-A9DF-3510-FD0A3C88C017}"/>
              </a:ext>
            </a:extLst>
          </p:cNvPr>
          <p:cNvSpPr txBox="1"/>
          <p:nvPr/>
        </p:nvSpPr>
        <p:spPr>
          <a:xfrm>
            <a:off x="9131300" y="27432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기술 완전성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재현성</a:t>
            </a:r>
          </a:p>
          <a:p>
            <a:pPr algn="ctr"/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교관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usefulness review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12DA439-C791-BBC4-ED31-3FD97B234E91}"/>
              </a:ext>
            </a:extLst>
          </p:cNvPr>
          <p:cNvSpPr/>
          <p:nvPr/>
        </p:nvSpPr>
        <p:spPr>
          <a:xfrm>
            <a:off x="558800" y="4216400"/>
            <a:ext cx="11074400" cy="1422400"/>
          </a:xfrm>
          <a:prstGeom prst="roundRect">
            <a:avLst/>
          </a:prstGeom>
          <a:solidFill>
            <a:srgbClr val="071B33"/>
          </a:solidFill>
          <a:ln w="0">
            <a:solidFill>
              <a:srgbClr val="071B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E33B56-632B-AE3F-D10C-1CAC5E23DE27}"/>
              </a:ext>
            </a:extLst>
          </p:cNvPr>
          <p:cNvSpPr txBox="1"/>
          <p:nvPr/>
        </p:nvSpPr>
        <p:spPr>
          <a:xfrm>
            <a:off x="889000" y="4445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19B7C9"/>
                </a:solidFill>
                <a:latin typeface="맑은 고딕" panose="020B0503020000020004" pitchFamily="50" charset="-127"/>
              </a:rPr>
              <a:t>워크숍 이후 필요한 세 가지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B3736F-7B40-5D19-F989-5BFC9D3C79F6}"/>
              </a:ext>
            </a:extLst>
          </p:cNvPr>
          <p:cNvSpPr txBox="1"/>
          <p:nvPr/>
        </p:nvSpPr>
        <p:spPr>
          <a:xfrm>
            <a:off x="914400" y="4953000"/>
            <a:ext cx="1036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① 시뮬레이터 </a:t>
            </a: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data interface 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확인   ② 교관</a:t>
            </a: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운용자 공동설계 인원 지정   ③ 비식별</a:t>
            </a: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비징계</a:t>
            </a:r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</a:rPr>
              <a:t>연구활용 기준 합의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427EF7-F2DD-4F17-EB23-FB7E0A53CD22}"/>
              </a:ext>
            </a:extLst>
          </p:cNvPr>
          <p:cNvSpPr txBox="1"/>
          <p:nvPr/>
        </p:nvSpPr>
        <p:spPr>
          <a:xfrm>
            <a:off x="1016000" y="58674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결론  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조종능력 향상은 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AI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의 점수보다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반복 가능한 데이터와 교관의 설명에서 시작됩니다</a:t>
            </a:r>
            <a:r>
              <a:rPr lang="en-US" altLang="ko-KR" b="1">
                <a:solidFill>
                  <a:srgbClr val="2E9E6F"/>
                </a:solidFill>
                <a:latin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2E9E6F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9006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57149D-AC63-73E0-2D75-D0B020A244F3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APPENDIX</a:t>
            </a:r>
            <a:endParaRPr lang="ko-KR" altLang="en-US" sz="1100" b="1">
              <a:solidFill>
                <a:srgbClr val="1769A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D17FB-5EA0-2D8D-5BE6-6543512F8BC5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핵심 용어와 분석 단위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7E61A67-2906-EC50-5C7B-6E700D57DB7E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3D28A1-52E4-E898-47BC-FCF5BCCC0D6A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99938-53E3-622B-12F4-1B8B9C117EB1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18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3062E75-2BB9-E958-DA69-C51A378BE2DA}"/>
              </a:ext>
            </a:extLst>
          </p:cNvPr>
          <p:cNvSpPr/>
          <p:nvPr/>
        </p:nvSpPr>
        <p:spPr>
          <a:xfrm>
            <a:off x="660400" y="1752600"/>
            <a:ext cx="3302000" cy="1524000"/>
          </a:xfrm>
          <a:prstGeom prst="roundRect">
            <a:avLst/>
          </a:prstGeom>
          <a:solidFill>
            <a:srgbClr val="FDEDE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356B53-128B-6D1E-A79D-2DD38633B7F6}"/>
              </a:ext>
            </a:extLst>
          </p:cNvPr>
          <p:cNvSpPr/>
          <p:nvPr/>
        </p:nvSpPr>
        <p:spPr>
          <a:xfrm>
            <a:off x="660400" y="1752600"/>
            <a:ext cx="88900" cy="1524000"/>
          </a:xfrm>
          <a:prstGeom prst="rect">
            <a:avLst/>
          </a:prstGeom>
          <a:solidFill>
            <a:srgbClr val="EF6555"/>
          </a:solidFill>
          <a:ln w="0">
            <a:solidFill>
              <a:srgbClr val="EF6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D00E7-6FBB-9E64-E41C-D12D9965587C}"/>
              </a:ext>
            </a:extLst>
          </p:cNvPr>
          <p:cNvSpPr txBox="1"/>
          <p:nvPr/>
        </p:nvSpPr>
        <p:spPr>
          <a:xfrm>
            <a:off x="914400" y="19304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Scenario exposure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2FBA6-10F0-9320-3A39-B6BA02F04F4F}"/>
              </a:ext>
            </a:extLst>
          </p:cNvPr>
          <p:cNvSpPr txBox="1"/>
          <p:nvPr/>
        </p:nvSpPr>
        <p:spPr>
          <a:xfrm>
            <a:off x="914400" y="23876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INTRUDER_SPAWNED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침입기가 실제 생성된 객관적 시점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2CF5A6B-27B0-86AC-EFC5-61DF761DA88A}"/>
              </a:ext>
            </a:extLst>
          </p:cNvPr>
          <p:cNvSpPr/>
          <p:nvPr/>
        </p:nvSpPr>
        <p:spPr>
          <a:xfrm>
            <a:off x="4445000" y="1752600"/>
            <a:ext cx="3302000" cy="1524000"/>
          </a:xfrm>
          <a:prstGeom prst="roundRect">
            <a:avLst/>
          </a:prstGeom>
          <a:solidFill>
            <a:srgbClr val="FFF6D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6EF1A8-FFF6-45EF-FB74-BBE4149CC9BD}"/>
              </a:ext>
            </a:extLst>
          </p:cNvPr>
          <p:cNvSpPr/>
          <p:nvPr/>
        </p:nvSpPr>
        <p:spPr>
          <a:xfrm>
            <a:off x="4445000" y="1752600"/>
            <a:ext cx="88900" cy="1524000"/>
          </a:xfrm>
          <a:prstGeom prst="rect">
            <a:avLst/>
          </a:prstGeom>
          <a:solidFill>
            <a:srgbClr val="E5A93D"/>
          </a:solidFill>
          <a:ln w="0">
            <a:solidFill>
              <a:srgbClr val="E5A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906F9-055C-632F-C1E5-9F56D7DCED08}"/>
              </a:ext>
            </a:extLst>
          </p:cNvPr>
          <p:cNvSpPr txBox="1"/>
          <p:nvPr/>
        </p:nvSpPr>
        <p:spPr>
          <a:xfrm>
            <a:off x="4699000" y="19304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Visual opportunity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4EC0EA-BA9A-8469-6D3F-229696E00B4A}"/>
              </a:ext>
            </a:extLst>
          </p:cNvPr>
          <p:cNvSpPr txBox="1"/>
          <p:nvPr/>
        </p:nvSpPr>
        <p:spPr>
          <a:xfrm>
            <a:off x="4699000" y="23876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화면상 침입기 크기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20 px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비교 가능한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geometry anchor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4E4F28A-710E-2EA2-4C04-3819F64814B5}"/>
              </a:ext>
            </a:extLst>
          </p:cNvPr>
          <p:cNvSpPr/>
          <p:nvPr/>
        </p:nvSpPr>
        <p:spPr>
          <a:xfrm>
            <a:off x="8229600" y="1752600"/>
            <a:ext cx="3302000" cy="152400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969453-854E-0B16-B435-CF88710585EF}"/>
              </a:ext>
            </a:extLst>
          </p:cNvPr>
          <p:cNvSpPr/>
          <p:nvPr/>
        </p:nvSpPr>
        <p:spPr>
          <a:xfrm>
            <a:off x="8229600" y="1752600"/>
            <a:ext cx="88900" cy="1524000"/>
          </a:xfrm>
          <a:prstGeom prst="rect">
            <a:avLst/>
          </a:prstGeom>
          <a:solidFill>
            <a:srgbClr val="2E9E6F"/>
          </a:solidFill>
          <a:ln w="0">
            <a:solidFill>
              <a:srgbClr val="2E9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83BFB-504F-0E0F-77B7-89F95DACD2FD}"/>
              </a:ext>
            </a:extLst>
          </p:cNvPr>
          <p:cNvSpPr txBox="1"/>
          <p:nvPr/>
        </p:nvSpPr>
        <p:spPr>
          <a:xfrm>
            <a:off x="8483600" y="19304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Operational response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2FFC00-97BA-1E9D-381A-4C9BB5B7FAC0}"/>
              </a:ext>
            </a:extLst>
          </p:cNvPr>
          <p:cNvSpPr txBox="1"/>
          <p:nvPr/>
        </p:nvSpPr>
        <p:spPr>
          <a:xfrm>
            <a:off x="8483600" y="23876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pre-anchor baseline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대비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지속적인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control input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변화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0B71103-5009-3622-B6CF-4B127F1558B5}"/>
              </a:ext>
            </a:extLst>
          </p:cNvPr>
          <p:cNvSpPr/>
          <p:nvPr/>
        </p:nvSpPr>
        <p:spPr>
          <a:xfrm>
            <a:off x="660400" y="3810000"/>
            <a:ext cx="3302000" cy="1524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0D7D73-1248-8E57-FE62-6107F67D1116}"/>
              </a:ext>
            </a:extLst>
          </p:cNvPr>
          <p:cNvSpPr/>
          <p:nvPr/>
        </p:nvSpPr>
        <p:spPr>
          <a:xfrm>
            <a:off x="660400" y="3810000"/>
            <a:ext cx="88900" cy="15240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69E95-1A47-B7C2-419D-3A246D525417}"/>
              </a:ext>
            </a:extLst>
          </p:cNvPr>
          <p:cNvSpPr txBox="1"/>
          <p:nvPr/>
        </p:nvSpPr>
        <p:spPr>
          <a:xfrm>
            <a:off x="914400" y="39878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Observation bin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3BB5E9-DA77-3CBB-E521-B5B7EF47286B}"/>
              </a:ext>
            </a:extLst>
          </p:cNvPr>
          <p:cNvSpPr txBox="1"/>
          <p:nvPr/>
        </p:nvSpPr>
        <p:spPr>
          <a:xfrm>
            <a:off x="914400" y="444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고정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200 ms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동안의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dominant AOI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검증된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fixation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은 아님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CDED9C-07D7-9A74-E9CA-E44D800F386B}"/>
              </a:ext>
            </a:extLst>
          </p:cNvPr>
          <p:cNvSpPr/>
          <p:nvPr/>
        </p:nvSpPr>
        <p:spPr>
          <a:xfrm>
            <a:off x="4445000" y="3810000"/>
            <a:ext cx="3302000" cy="1524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217D77-BC42-AE0A-0AC8-2D4E235085BB}"/>
              </a:ext>
            </a:extLst>
          </p:cNvPr>
          <p:cNvSpPr/>
          <p:nvPr/>
        </p:nvSpPr>
        <p:spPr>
          <a:xfrm>
            <a:off x="4445000" y="3810000"/>
            <a:ext cx="88900" cy="1524000"/>
          </a:xfrm>
          <a:prstGeom prst="rect">
            <a:avLst/>
          </a:prstGeom>
          <a:solidFill>
            <a:srgbClr val="1769AA"/>
          </a:solidFill>
          <a:ln w="0">
            <a:solidFill>
              <a:srgbClr val="1769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FFAAEA-87B7-F9BE-9DE5-6EE1BA54D437}"/>
              </a:ext>
            </a:extLst>
          </p:cNvPr>
          <p:cNvSpPr txBox="1"/>
          <p:nvPr/>
        </p:nvSpPr>
        <p:spPr>
          <a:xfrm>
            <a:off x="4699000" y="39878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DTMC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C6B34-FBDF-0BCF-1B14-E4D8A263DE8E}"/>
              </a:ext>
            </a:extLst>
          </p:cNvPr>
          <p:cNvSpPr txBox="1"/>
          <p:nvPr/>
        </p:nvSpPr>
        <p:spPr>
          <a:xfrm>
            <a:off x="4699000" y="444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현재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AOI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행 → 다음 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AOI </a:t>
            </a:r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열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전이확률</a:t>
            </a:r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; row sum = 1</a:t>
            </a:r>
            <a:endParaRPr lang="ko-KR" altLang="en-US" sz="13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79EAA74-DC70-0C43-3DA2-92CB54C16932}"/>
              </a:ext>
            </a:extLst>
          </p:cNvPr>
          <p:cNvSpPr/>
          <p:nvPr/>
        </p:nvSpPr>
        <p:spPr>
          <a:xfrm>
            <a:off x="8229600" y="3810000"/>
            <a:ext cx="3302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F97008-5419-4F0F-1268-5AE737D2A0D1}"/>
              </a:ext>
            </a:extLst>
          </p:cNvPr>
          <p:cNvSpPr/>
          <p:nvPr/>
        </p:nvSpPr>
        <p:spPr>
          <a:xfrm>
            <a:off x="8229600" y="3810000"/>
            <a:ext cx="88900" cy="1524000"/>
          </a:xfrm>
          <a:prstGeom prst="rect">
            <a:avLst/>
          </a:prstGeom>
          <a:solidFill>
            <a:srgbClr val="526171"/>
          </a:solidFill>
          <a:ln w="0">
            <a:solidFill>
              <a:srgbClr val="52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CC806C-93C2-F185-EF5A-FF9C6D4EEA9E}"/>
              </a:ext>
            </a:extLst>
          </p:cNvPr>
          <p:cNvSpPr txBox="1"/>
          <p:nvPr/>
        </p:nvSpPr>
        <p:spPr>
          <a:xfrm>
            <a:off x="8483600" y="39878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071B33"/>
                </a:solidFill>
                <a:latin typeface="맑은 고딕" panose="020B0503020000020004" pitchFamily="50" charset="-127"/>
              </a:rPr>
              <a:t>Quality flags</a:t>
            </a:r>
            <a:endParaRPr lang="ko-KR" altLang="en-US" sz="16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5FA5A2-2269-5E79-500F-FEEDD27A24D3}"/>
              </a:ext>
            </a:extLst>
          </p:cNvPr>
          <p:cNvSpPr txBox="1"/>
          <p:nvPr/>
        </p:nvSpPr>
        <p:spPr>
          <a:xfrm>
            <a:off x="8483600" y="444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>
                <a:solidFill>
                  <a:srgbClr val="172536"/>
                </a:solidFill>
                <a:latin typeface="맑은 고딕" panose="020B0503020000020004" pitchFamily="50" charset="-127"/>
              </a:rPr>
              <a:t>speed timeout·active control·invalid gaze</a:t>
            </a:r>
          </a:p>
          <a:p>
            <a:r>
              <a:rPr lang="ko-KR" altLang="en-US" sz="1300">
                <a:solidFill>
                  <a:srgbClr val="172536"/>
                </a:solidFill>
                <a:latin typeface="맑은 고딕" panose="020B0503020000020004" pitchFamily="50" charset="-127"/>
              </a:rPr>
              <a:t>삭제 대신 명시적으로 보존</a:t>
            </a:r>
          </a:p>
        </p:txBody>
      </p:sp>
    </p:spTree>
    <p:extLst>
      <p:ext uri="{BB962C8B-B14F-4D97-AF65-F5344CB8AC3E}">
        <p14:creationId xmlns:p14="http://schemas.microsoft.com/office/powerpoint/2010/main" val="3359965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7FE92-1275-FC7A-292F-9554CFF7C476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APPENDIX</a:t>
            </a:r>
            <a:endParaRPr lang="ko-KR" altLang="en-US" sz="1100" b="1">
              <a:solidFill>
                <a:srgbClr val="1769A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6C74C-0516-ED85-A400-D6003040EDA4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군 적용 시 데이터 거버넌스 원칙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CB6308B-EF99-A439-6E69-E951C1242A38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73F29C-74AA-C498-E468-1857B23E3F0C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5F0A8-D75E-22B3-490E-9632B464874F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19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2EDE399-7284-E1FE-9159-D47619B101E2}"/>
              </a:ext>
            </a:extLst>
          </p:cNvPr>
          <p:cNvSpPr/>
          <p:nvPr/>
        </p:nvSpPr>
        <p:spPr>
          <a:xfrm>
            <a:off x="787400" y="1689100"/>
            <a:ext cx="533400" cy="533400"/>
          </a:xfrm>
          <a:prstGeom prst="ellipse">
            <a:avLst/>
          </a:prstGeom>
          <a:solidFill>
            <a:srgbClr val="071B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BD69A-DF6D-BC1C-ADF3-BCA1CB1CBBD4}"/>
              </a:ext>
            </a:extLst>
          </p:cNvPr>
          <p:cNvSpPr txBox="1"/>
          <p:nvPr/>
        </p:nvSpPr>
        <p:spPr>
          <a:xfrm>
            <a:off x="787400" y="1689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01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E3218-1BD9-AFB5-6535-2E8AA1634C8B}"/>
              </a:ext>
            </a:extLst>
          </p:cNvPr>
          <p:cNvSpPr txBox="1"/>
          <p:nvPr/>
        </p:nvSpPr>
        <p:spPr>
          <a:xfrm>
            <a:off x="1587500" y="1714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폐쇄망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·on-premise</a:t>
            </a:r>
            <a:endParaRPr lang="ko-KR" altLang="en-US" sz="1700" b="1">
              <a:solidFill>
                <a:srgbClr val="071B3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34556-439D-CBA8-ADC1-DB5D28D981D5}"/>
              </a:ext>
            </a:extLst>
          </p:cNvPr>
          <p:cNvSpPr txBox="1"/>
          <p:nvPr/>
        </p:nvSpPr>
        <p:spPr>
          <a:xfrm>
            <a:off x="4064000" y="17145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원본 비행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시선 데이터는 인가된 구역 밖으로 반출하지 않음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C49E209-323C-9FFE-B268-81B05478E85B}"/>
              </a:ext>
            </a:extLst>
          </p:cNvPr>
          <p:cNvCxnSpPr/>
          <p:nvPr/>
        </p:nvCxnSpPr>
        <p:spPr>
          <a:xfrm>
            <a:off x="1574800" y="2209800"/>
            <a:ext cx="972820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4CCB3B96-0033-5443-175E-654C9A28FB84}"/>
              </a:ext>
            </a:extLst>
          </p:cNvPr>
          <p:cNvSpPr/>
          <p:nvPr/>
        </p:nvSpPr>
        <p:spPr>
          <a:xfrm>
            <a:off x="787400" y="2578100"/>
            <a:ext cx="533400" cy="533400"/>
          </a:xfrm>
          <a:prstGeom prst="ellipse">
            <a:avLst/>
          </a:prstGeom>
          <a:solidFill>
            <a:srgbClr val="176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FA7E5-960B-F6F8-1B41-80F0BF33E458}"/>
              </a:ext>
            </a:extLst>
          </p:cNvPr>
          <p:cNvSpPr txBox="1"/>
          <p:nvPr/>
        </p:nvSpPr>
        <p:spPr>
          <a:xfrm>
            <a:off x="787400" y="2578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02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0A0B6-4AEF-FC7D-36D1-EF2754F7B394}"/>
              </a:ext>
            </a:extLst>
          </p:cNvPr>
          <p:cNvSpPr txBox="1"/>
          <p:nvPr/>
        </p:nvSpPr>
        <p:spPr>
          <a:xfrm>
            <a:off x="1587500" y="2603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비식별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최소수집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D66C0-9AF9-4762-E397-0E8971EB1F2E}"/>
              </a:ext>
            </a:extLst>
          </p:cNvPr>
          <p:cNvSpPr txBox="1"/>
          <p:nvPr/>
        </p:nvSpPr>
        <p:spPr>
          <a:xfrm>
            <a:off x="4064000" y="26035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발표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연구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export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는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participant code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와 필요한 지표만 사용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0C98B10-9244-41F5-69B9-E2F3C703EA76}"/>
              </a:ext>
            </a:extLst>
          </p:cNvPr>
          <p:cNvCxnSpPr/>
          <p:nvPr/>
        </p:nvCxnSpPr>
        <p:spPr>
          <a:xfrm>
            <a:off x="1574800" y="3098800"/>
            <a:ext cx="972820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CF872791-C125-7CE5-EEA8-FE036FE1AE63}"/>
              </a:ext>
            </a:extLst>
          </p:cNvPr>
          <p:cNvSpPr/>
          <p:nvPr/>
        </p:nvSpPr>
        <p:spPr>
          <a:xfrm>
            <a:off x="787400" y="3467100"/>
            <a:ext cx="533400" cy="533400"/>
          </a:xfrm>
          <a:prstGeom prst="ellipse">
            <a:avLst/>
          </a:prstGeom>
          <a:solidFill>
            <a:srgbClr val="2E9E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CF299C-2F1C-F393-BAB0-4B2622872C9D}"/>
              </a:ext>
            </a:extLst>
          </p:cNvPr>
          <p:cNvSpPr txBox="1"/>
          <p:nvPr/>
        </p:nvSpPr>
        <p:spPr>
          <a:xfrm>
            <a:off x="787400" y="3467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03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9EF005-898D-E373-9023-7B0CC88FFB68}"/>
              </a:ext>
            </a:extLst>
          </p:cNvPr>
          <p:cNvSpPr txBox="1"/>
          <p:nvPr/>
        </p:nvSpPr>
        <p:spPr>
          <a:xfrm>
            <a:off x="1587500" y="3492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교관 승인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4816E5-BABC-7DA5-62A2-4C011FD88F86}"/>
              </a:ext>
            </a:extLst>
          </p:cNvPr>
          <p:cNvSpPr txBox="1"/>
          <p:nvPr/>
        </p:nvSpPr>
        <p:spPr>
          <a:xfrm>
            <a:off x="4064000" y="34925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또는 규칙 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flag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는 설명자료이며 최종 평가는 교관이 확인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694BB40-B840-08F1-6E5E-5A58ACD81F3E}"/>
              </a:ext>
            </a:extLst>
          </p:cNvPr>
          <p:cNvCxnSpPr/>
          <p:nvPr/>
        </p:nvCxnSpPr>
        <p:spPr>
          <a:xfrm>
            <a:off x="1574800" y="3987800"/>
            <a:ext cx="972820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1BBDBCE9-6069-2304-2521-A0D8653CB07E}"/>
              </a:ext>
            </a:extLst>
          </p:cNvPr>
          <p:cNvSpPr/>
          <p:nvPr/>
        </p:nvSpPr>
        <p:spPr>
          <a:xfrm>
            <a:off x="787400" y="4356100"/>
            <a:ext cx="533400" cy="533400"/>
          </a:xfrm>
          <a:prstGeom prst="ellipse">
            <a:avLst/>
          </a:prstGeom>
          <a:solidFill>
            <a:srgbClr val="EF6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940E70-4747-B406-E9F1-7D1D10E04663}"/>
              </a:ext>
            </a:extLst>
          </p:cNvPr>
          <p:cNvSpPr txBox="1"/>
          <p:nvPr/>
        </p:nvSpPr>
        <p:spPr>
          <a:xfrm>
            <a:off x="787400" y="4356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04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744E00-AF17-1D4C-4BF8-B252B7A5B21E}"/>
              </a:ext>
            </a:extLst>
          </p:cNvPr>
          <p:cNvSpPr txBox="1"/>
          <p:nvPr/>
        </p:nvSpPr>
        <p:spPr>
          <a:xfrm>
            <a:off x="1587500" y="4381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비징계 목적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29D5D1-4746-C755-084C-5AF793454555}"/>
              </a:ext>
            </a:extLst>
          </p:cNvPr>
          <p:cNvSpPr txBox="1"/>
          <p:nvPr/>
        </p:nvSpPr>
        <p:spPr>
          <a:xfrm>
            <a:off x="4064000" y="43815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초기 적용은 개인 발전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훈련개선에 한정하고 인사평가와 분리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362C956-64DE-1999-1BD5-D286C881DB75}"/>
              </a:ext>
            </a:extLst>
          </p:cNvPr>
          <p:cNvCxnSpPr/>
          <p:nvPr/>
        </p:nvCxnSpPr>
        <p:spPr>
          <a:xfrm>
            <a:off x="1574800" y="4876800"/>
            <a:ext cx="972820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E17B0630-A711-82F7-4345-5937410B2CE5}"/>
              </a:ext>
            </a:extLst>
          </p:cNvPr>
          <p:cNvSpPr/>
          <p:nvPr/>
        </p:nvSpPr>
        <p:spPr>
          <a:xfrm>
            <a:off x="787400" y="5245100"/>
            <a:ext cx="533400" cy="533400"/>
          </a:xfrm>
          <a:prstGeom prst="ellipse">
            <a:avLst/>
          </a:prstGeom>
          <a:solidFill>
            <a:srgbClr val="E5A9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20E558-31BC-1136-ECE4-1BD29AD4701B}"/>
              </a:ext>
            </a:extLst>
          </p:cNvPr>
          <p:cNvSpPr txBox="1"/>
          <p:nvPr/>
        </p:nvSpPr>
        <p:spPr>
          <a:xfrm>
            <a:off x="787400" y="5245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05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58935D-5A44-FEF0-8E29-AE6588731CCA}"/>
              </a:ext>
            </a:extLst>
          </p:cNvPr>
          <p:cNvSpPr txBox="1"/>
          <p:nvPr/>
        </p:nvSpPr>
        <p:spPr>
          <a:xfrm>
            <a:off x="1587500" y="5270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연구</a:t>
            </a:r>
            <a:r>
              <a:rPr lang="en-US" altLang="ko-KR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71B33"/>
                </a:solidFill>
                <a:latin typeface="맑은 고딕" panose="020B0503020000020004" pitchFamily="50" charset="-127"/>
              </a:rPr>
              <a:t>출판 별도 심의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8FAD3F-AC0F-32E2-91C1-26090E6A0CC6}"/>
              </a:ext>
            </a:extLst>
          </p:cNvPr>
          <p:cNvSpPr txBox="1"/>
          <p:nvPr/>
        </p:nvSpPr>
        <p:spPr>
          <a:xfrm>
            <a:off x="4064000" y="52705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IRB/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면제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보안성 검토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자료보존</a:t>
            </a:r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72536"/>
                </a:solidFill>
                <a:latin typeface="맑은 고딕" panose="020B0503020000020004" pitchFamily="50" charset="-127"/>
              </a:rPr>
              <a:t>폐기 규칙을 사전에 확정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AFBCE8A-79DB-2197-686B-CE79C1CF2E97}"/>
              </a:ext>
            </a:extLst>
          </p:cNvPr>
          <p:cNvCxnSpPr/>
          <p:nvPr/>
        </p:nvCxnSpPr>
        <p:spPr>
          <a:xfrm>
            <a:off x="1574800" y="5765800"/>
            <a:ext cx="972820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894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661C4-63CC-777C-7D56-1AB5769D78BE}"/>
              </a:ext>
            </a:extLst>
          </p:cNvPr>
          <p:cNvSpPr txBox="1"/>
          <p:nvPr/>
        </p:nvSpPr>
        <p:spPr>
          <a:xfrm>
            <a:off x="508000" y="304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00" b="1">
                <a:solidFill>
                  <a:srgbClr val="1769AA"/>
                </a:solidFill>
                <a:latin typeface="맑은 고딕" panose="020B0503020000020004" pitchFamily="50" charset="-127"/>
              </a:rPr>
              <a:t>APPENDIX</a:t>
            </a:r>
            <a:endParaRPr lang="ko-KR" altLang="en-US" sz="1100" b="1">
              <a:solidFill>
                <a:srgbClr val="1769A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DC020A-6FCF-4198-56DB-000D997CD8D9}"/>
              </a:ext>
            </a:extLst>
          </p:cNvPr>
          <p:cNvSpPr txBox="1"/>
          <p:nvPr/>
        </p:nvSpPr>
        <p:spPr>
          <a:xfrm>
            <a:off x="508000" y="609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>
                <a:solidFill>
                  <a:srgbClr val="071B33"/>
                </a:solidFill>
                <a:latin typeface="맑은 고딕" panose="020B0503020000020004" pitchFamily="50" charset="-127"/>
              </a:rPr>
              <a:t>주요 근거자료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79C104C-04F6-CFCC-F154-22020C84FFA1}"/>
              </a:ext>
            </a:extLst>
          </p:cNvPr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1016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54F236B-B4B3-2445-824A-3E0E895F7756}"/>
              </a:ext>
            </a:extLst>
          </p:cNvPr>
          <p:cNvSpPr txBox="1"/>
          <p:nvPr/>
        </p:nvSpPr>
        <p:spPr>
          <a:xfrm>
            <a:off x="482600" y="65278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제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회 해병항공 전투발전 워크숍  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공개자료</a:t>
            </a:r>
            <a:r>
              <a:rPr lang="en-US" altLang="ko-KR" sz="900">
                <a:solidFill>
                  <a:srgbClr val="52617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171"/>
                </a:solidFill>
                <a:latin typeface="맑은 고딕" panose="020B0503020000020004" pitchFamily="50" charset="-127"/>
              </a:rPr>
              <a:t>연구실 기술검증 기반 제안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0B8DC-5F1B-C77A-6038-431D5F68CEF3}"/>
              </a:ext>
            </a:extLst>
          </p:cNvPr>
          <p:cNvSpPr txBox="1"/>
          <p:nvPr/>
        </p:nvSpPr>
        <p:spPr>
          <a:xfrm>
            <a:off x="11226800" y="6527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ko-KR" sz="900" b="1">
                <a:solidFill>
                  <a:srgbClr val="526171"/>
                </a:solidFill>
                <a:latin typeface="맑은 고딕" panose="020B0503020000020004" pitchFamily="50" charset="-127"/>
              </a:rPr>
              <a:t>20</a:t>
            </a:r>
            <a:endParaRPr lang="ko-KR" altLang="en-US" sz="900" b="1">
              <a:solidFill>
                <a:srgbClr val="52617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25164-DFAD-17BB-6B13-D32C943E8739}"/>
              </a:ext>
            </a:extLst>
          </p:cNvPr>
          <p:cNvSpPr txBox="1"/>
          <p:nvPr/>
        </p:nvSpPr>
        <p:spPr>
          <a:xfrm>
            <a:off x="685800" y="1600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1769AA"/>
                </a:solidFill>
                <a:latin typeface="맑은 고딕" panose="020B0503020000020004" pitchFamily="50" charset="-127"/>
              </a:rPr>
              <a:t>연구 근거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F0167-AC15-E5E2-A5FF-AE14563F91E4}"/>
              </a:ext>
            </a:extLst>
          </p:cNvPr>
          <p:cNvSpPr txBox="1"/>
          <p:nvPr/>
        </p:nvSpPr>
        <p:spPr>
          <a:xfrm>
            <a:off x="838200" y="21082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• Kim, S. and Lee, H., APISAT-2026 Full Paper merged manuscript, 2026.</a:t>
            </a:r>
          </a:p>
          <a:p>
            <a:r>
              <a:rPr lang="en-US" altLang="ko-KR" sz="1400">
                <a:solidFill>
                  <a:srgbClr val="172536"/>
                </a:solidFill>
                <a:latin typeface="맑은 고딕" panose="020B0503020000020004" pitchFamily="50" charset="-127"/>
              </a:rPr>
              <a:t>• AISimulationProject v39 technical-feasibility dataset and AOI/DTMC audit outputs.</a:t>
            </a:r>
            <a:endParaRPr lang="ko-KR" altLang="en-US" sz="14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64E49-B445-03C0-6168-F02B8B8C5DD1}"/>
              </a:ext>
            </a:extLst>
          </p:cNvPr>
          <p:cNvSpPr txBox="1"/>
          <p:nvPr/>
        </p:nvSpPr>
        <p:spPr>
          <a:xfrm>
            <a:off x="685800" y="3175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b="1">
                <a:solidFill>
                  <a:srgbClr val="2E9E6F"/>
                </a:solidFill>
                <a:latin typeface="맑은 고딕" panose="020B0503020000020004" pitchFamily="50" charset="-127"/>
              </a:rPr>
              <a:t>공식 공개자료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F8DD5-164E-9824-4859-F5196C09DF51}"/>
              </a:ext>
            </a:extLst>
          </p:cNvPr>
          <p:cNvSpPr txBox="1"/>
          <p:nvPr/>
        </p:nvSpPr>
        <p:spPr>
          <a:xfrm>
            <a:off x="838200" y="3657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172536"/>
                </a:solidFill>
                <a:latin typeface="맑은 고딕" panose="020B0503020000020004" pitchFamily="50" charset="-127"/>
              </a:rPr>
              <a:t>방위사업청</a:t>
            </a:r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, ‘</a:t>
            </a:r>
            <a:r>
              <a:rPr lang="ko-KR" altLang="en-US" sz="1200">
                <a:solidFill>
                  <a:srgbClr val="172536"/>
                </a:solidFill>
                <a:latin typeface="맑은 고딕" panose="020B0503020000020004" pitchFamily="50" charset="-127"/>
              </a:rPr>
              <a:t>해병대 하늘로 비상하다’</a:t>
            </a:r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, 2023.06.29.</a:t>
            </a:r>
          </a:p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  https://www.dapa.go.kr/dapa/doc/selectDoc.do?bbsSeq=326&amp;docSeq=17266&amp;menuSeq=3069</a:t>
            </a:r>
          </a:p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• KAI, MUH-1 Marine Utility Helicopter.</a:t>
            </a:r>
          </a:p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  https://www.koreaaero.com/EN/Business/MUH1.aspx</a:t>
            </a:r>
          </a:p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• KAI, </a:t>
            </a:r>
            <a:r>
              <a:rPr lang="ko-KR" altLang="en-US" sz="1200">
                <a:solidFill>
                  <a:srgbClr val="172536"/>
                </a:solidFill>
                <a:latin typeface="맑은 고딕" panose="020B0503020000020004" pitchFamily="50" charset="-127"/>
              </a:rPr>
              <a:t>훈련체계 </a:t>
            </a:r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— MUH </a:t>
            </a:r>
            <a:r>
              <a:rPr lang="ko-KR" altLang="en-US" sz="1200">
                <a:solidFill>
                  <a:srgbClr val="172536"/>
                </a:solidFill>
                <a:latin typeface="맑은 고딕" panose="020B0503020000020004" pitchFamily="50" charset="-127"/>
              </a:rPr>
              <a:t>시뮬레이터</a:t>
            </a:r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  https://m.koreaaero.com/KO/Business/TrainingSystem.aspx</a:t>
            </a:r>
          </a:p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172536"/>
                </a:solidFill>
                <a:latin typeface="맑은 고딕" panose="020B0503020000020004" pitchFamily="50" charset="-127"/>
              </a:rPr>
              <a:t>방위사업청</a:t>
            </a:r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, ‘</a:t>
            </a:r>
            <a:r>
              <a:rPr lang="ko-KR" altLang="en-US" sz="1200">
                <a:solidFill>
                  <a:srgbClr val="172536"/>
                </a:solidFill>
                <a:latin typeface="맑은 고딕" panose="020B0503020000020004" pitchFamily="50" charset="-127"/>
              </a:rPr>
              <a:t>수리온 비행훈련시뮬레이터 실전 배치’</a:t>
            </a:r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, 2026.07.29.</a:t>
            </a:r>
          </a:p>
          <a:p>
            <a:r>
              <a:rPr lang="en-US" altLang="ko-KR" sz="1200">
                <a:solidFill>
                  <a:srgbClr val="172536"/>
                </a:solidFill>
                <a:latin typeface="맑은 고딕" panose="020B0503020000020004" pitchFamily="50" charset="-127"/>
              </a:rPr>
              <a:t>  https://www.dapa.go.kr/dapa/doc/selectDoc.do?bbsSeq=326&amp;docSeq=58786&amp;menuSeq=3069</a:t>
            </a:r>
            <a:endParaRPr lang="ko-KR" altLang="en-US" sz="1200">
              <a:solidFill>
                <a:srgbClr val="17253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896E548-EA79-DF00-3A25-BA8DCCDFE1D2}"/>
              </a:ext>
            </a:extLst>
          </p:cNvPr>
          <p:cNvSpPr/>
          <p:nvPr/>
        </p:nvSpPr>
        <p:spPr>
          <a:xfrm>
            <a:off x="685800" y="5918200"/>
            <a:ext cx="10820400" cy="355600"/>
          </a:xfrm>
          <a:prstGeom prst="roundRect">
            <a:avLst/>
          </a:prstGeom>
          <a:solidFill>
            <a:srgbClr val="FFF6DF"/>
          </a:solidFill>
          <a:ln w="12700">
            <a:solidFill>
              <a:srgbClr val="E5A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704E67-DA13-551D-494B-2774F7BB5AE4}"/>
              </a:ext>
            </a:extLst>
          </p:cNvPr>
          <p:cNvSpPr txBox="1"/>
          <p:nvPr/>
        </p:nvSpPr>
        <p:spPr>
          <a:xfrm>
            <a:off x="863600" y="59944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rgbClr val="E5A93D"/>
                </a:solidFill>
                <a:latin typeface="맑은 고딕" panose="020B0503020000020004" pitchFamily="50" charset="-127"/>
              </a:rPr>
              <a:t>군 적용 시나리오와 </a:t>
            </a:r>
            <a:r>
              <a:rPr lang="en-US" altLang="ko-KR" sz="1000" b="1">
                <a:solidFill>
                  <a:srgbClr val="E5A93D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1000" b="1">
                <a:solidFill>
                  <a:srgbClr val="E5A93D"/>
                </a:solidFill>
                <a:latin typeface="맑은 고딕" panose="020B0503020000020004" pitchFamily="50" charset="-127"/>
              </a:rPr>
              <a:t>주 실증안은 위 공개자료와 현재 프레임워크를 바탕으로 한 발표자 제안입니다</a:t>
            </a:r>
            <a:r>
              <a:rPr lang="en-US" altLang="ko-KR" sz="1000" b="1">
                <a:solidFill>
                  <a:srgbClr val="E5A93D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 b="1">
              <a:solidFill>
                <a:srgbClr val="E5A93D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7908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3658</Words>
  <Application>Microsoft Office PowerPoint</Application>
  <PresentationFormat>와이드스크린</PresentationFormat>
  <Paragraphs>423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김석호</dc:creator>
  <cp:lastModifiedBy>김석호</cp:lastModifiedBy>
  <cp:revision>2</cp:revision>
  <dcterms:created xsi:type="dcterms:W3CDTF">2026-09-01T12:57:54Z</dcterms:created>
  <dcterms:modified xsi:type="dcterms:W3CDTF">2026-09-01T13:10:06Z</dcterms:modified>
</cp:coreProperties>
</file>